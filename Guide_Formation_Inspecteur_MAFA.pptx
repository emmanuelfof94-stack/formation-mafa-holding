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335285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194560" cy="5143500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2194560" y="0"/>
            <a:ext cx="365760" cy="5143500"/>
          </a:xfrm>
          <a:prstGeom prst="rect">
            <a:avLst/>
          </a:prstGeom>
          <a:solidFill>
            <a:srgbClr val="CC5200"/>
          </a:solidFill>
          <a:ln w="12700">
            <a:solidFill>
              <a:srgbClr val="CC52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3516923" y="1343465"/>
            <a:ext cx="5029200" cy="9812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kern="0" spc="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GUIDE DE FORMATION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516923" y="2370406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Inspector Orange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840480" y="43891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Mars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SOMMAIRE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0040" y="749808"/>
            <a:ext cx="4160520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320040" y="749808"/>
            <a:ext cx="475488" cy="859536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320040" y="749808"/>
            <a:ext cx="47548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86968" y="822960"/>
            <a:ext cx="3493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86968" y="1188720"/>
            <a:ext cx="3493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Objectif, utilisateurs et prérequis techniques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" y="1773936"/>
            <a:ext cx="4160520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320040" y="1773936"/>
            <a:ext cx="475488" cy="859536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320040" y="1773936"/>
            <a:ext cx="47548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5555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86968" y="1847088"/>
            <a:ext cx="3493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du formulaire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86968" y="2212848"/>
            <a:ext cx="3493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8 étapes de la fiche de visite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2798064"/>
            <a:ext cx="4160520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320040" y="2798064"/>
            <a:ext cx="475488" cy="859536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320040" y="2798064"/>
            <a:ext cx="47548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5555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86968" y="2871216"/>
            <a:ext cx="3493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étape par étape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86968" y="3236976"/>
            <a:ext cx="3493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Instructions détaillées pour chaque section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3822192"/>
            <a:ext cx="4160520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320040" y="3822192"/>
            <a:ext cx="475488" cy="859536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320040" y="3822192"/>
            <a:ext cx="47548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5555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86968" y="3895344"/>
            <a:ext cx="3493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avant soumission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86968" y="4261104"/>
            <a:ext cx="3493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points de contrôle obligatoires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749808"/>
            <a:ext cx="4160520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4754880" y="749808"/>
            <a:ext cx="475488" cy="859536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4754880" y="749808"/>
            <a:ext cx="47548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5555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321808" y="822960"/>
            <a:ext cx="3493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pratiques fréquents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321808" y="1188720"/>
            <a:ext cx="3493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Scénarios terrain et procédures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54880" y="1773936"/>
            <a:ext cx="4160520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0" name="Shape 28"/>
          <p:cNvSpPr/>
          <p:nvPr/>
        </p:nvSpPr>
        <p:spPr>
          <a:xfrm>
            <a:off x="4754880" y="1773936"/>
            <a:ext cx="475488" cy="859536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4754880" y="1773936"/>
            <a:ext cx="47548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5555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321808" y="1847088"/>
            <a:ext cx="3493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Codes et géographie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321808" y="2212848"/>
            <a:ext cx="3493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codes marchands et blocs régionaux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54880" y="2798064"/>
            <a:ext cx="4160520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5" name="Shape 33"/>
          <p:cNvSpPr/>
          <p:nvPr/>
        </p:nvSpPr>
        <p:spPr>
          <a:xfrm>
            <a:off x="4754880" y="2798064"/>
            <a:ext cx="475488" cy="859536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Text 34"/>
          <p:cNvSpPr/>
          <p:nvPr/>
        </p:nvSpPr>
        <p:spPr>
          <a:xfrm>
            <a:off x="4754880" y="2798064"/>
            <a:ext cx="47548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5555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321808" y="2871216"/>
            <a:ext cx="3493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Bonnes pratiques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321808" y="3236976"/>
            <a:ext cx="3493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Règles, qualité des données, confidentialité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754880" y="3822192"/>
            <a:ext cx="4160520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0" name="Shape 38"/>
          <p:cNvSpPr/>
          <p:nvPr/>
        </p:nvSpPr>
        <p:spPr>
          <a:xfrm>
            <a:off x="4754880" y="3822192"/>
            <a:ext cx="475488" cy="859536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1" name="Text 39"/>
          <p:cNvSpPr/>
          <p:nvPr/>
        </p:nvSpPr>
        <p:spPr>
          <a:xfrm>
            <a:off x="4754880" y="3822192"/>
            <a:ext cx="47548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5555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08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5321808" y="3895344"/>
            <a:ext cx="3493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Glossaire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321808" y="4261104"/>
            <a:ext cx="3493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Termes clés et définitions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5" name="Shape 43"/>
          <p:cNvSpPr/>
          <p:nvPr/>
        </p:nvSpPr>
        <p:spPr>
          <a:xfrm>
            <a:off x="0" y="4864608"/>
            <a:ext cx="164592" cy="278892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6" name="Text 44"/>
          <p:cNvSpPr/>
          <p:nvPr/>
        </p:nvSpPr>
        <p:spPr>
          <a:xfrm>
            <a:off x="237744" y="4864608"/>
            <a:ext cx="749808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MAFA — Guide de Formation Inspector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206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F6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  INTRODUCTION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" y="658368"/>
            <a:ext cx="4023360" cy="1920240"/>
          </a:xfrm>
          <a:prstGeom prst="rect">
            <a:avLst/>
          </a:prstGeom>
          <a:solidFill>
            <a:srgbClr val="FFF3EB"/>
          </a:solidFill>
          <a:ln w="12700">
            <a:solidFill>
              <a:srgbClr val="FFCCA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320040" y="658368"/>
            <a:ext cx="4023360" cy="384048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411480" y="65836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OBJECTIF DE L'APPLICATION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1115568"/>
            <a:ext cx="374904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Fiche de Visite MAFA est l'outil numérique officiel pour documenter les visites terrain auprès des marchands Orange Money.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Elle remplace les fiches papier et garantit une collecte structurée, géolocalisée et transmise en temps réel au superviseur.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800600" y="658368"/>
            <a:ext cx="4023360" cy="1920240"/>
          </a:xfrm>
          <a:prstGeom prst="rect">
            <a:avLst/>
          </a:prstGeom>
          <a:solidFill>
            <a:srgbClr val="EBF2FF"/>
          </a:solidFill>
          <a:ln w="12700">
            <a:solidFill>
              <a:srgbClr val="C0D8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4800600" y="658368"/>
            <a:ext cx="4023360" cy="38404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4892040" y="65836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👮  RÔLE DE L'INSPECTEUR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937760" y="1115568"/>
            <a:ext cx="374904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1150" b="1" noProof="0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</a:t>
            </a:r>
            <a:r>
              <a:rPr lang="fr-FR" sz="1150" noProof="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Vérifier le travail des agents terrain</a:t>
            </a:r>
            <a:endParaRPr lang="fr-FR" sz="1150" noProof="0" dirty="0"/>
          </a:p>
          <a:p>
            <a:pPr marL="0" indent="0">
              <a:buNone/>
            </a:pPr>
            <a:r>
              <a:rPr lang="fr-FR" sz="1150" b="1" noProof="0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</a:t>
            </a:r>
            <a:r>
              <a:rPr lang="fr-FR" sz="1150" noProof="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Contrôler la conformité des marchands</a:t>
            </a:r>
            <a:endParaRPr lang="fr-FR" sz="1150" noProof="0" dirty="0"/>
          </a:p>
          <a:p>
            <a:pPr marL="0" indent="0">
              <a:buNone/>
            </a:pPr>
            <a:r>
              <a:rPr lang="fr-FR" sz="1150" b="1" noProof="0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</a:t>
            </a:r>
            <a:r>
              <a:rPr lang="fr-FR" sz="1150" noProof="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Diagnostiquer les problèmes terrain</a:t>
            </a:r>
            <a:endParaRPr lang="fr-FR" sz="1150" noProof="0" dirty="0"/>
          </a:p>
          <a:p>
            <a:pPr marL="0" indent="0">
              <a:buNone/>
            </a:pPr>
            <a:r>
              <a:rPr lang="fr-FR" sz="1150" b="1" noProof="0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</a:t>
            </a:r>
            <a:r>
              <a:rPr lang="fr-FR" sz="1150" noProof="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Documenter les actions correctives</a:t>
            </a:r>
            <a:endParaRPr lang="fr-FR" sz="1150" noProof="0" dirty="0"/>
          </a:p>
          <a:p>
            <a:pPr marL="0" indent="0">
              <a:buNone/>
            </a:pPr>
            <a:r>
              <a:rPr lang="fr-FR" sz="1150" b="1" noProof="0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</a:t>
            </a:r>
            <a:r>
              <a:rPr lang="fr-FR" sz="1150" noProof="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Soumettre des rapports au superviseur</a:t>
            </a:r>
            <a:endParaRPr lang="fr-FR" sz="1150" noProof="0" dirty="0"/>
          </a:p>
        </p:txBody>
      </p:sp>
      <p:sp>
        <p:nvSpPr>
          <p:cNvPr id="12" name="Shape 10"/>
          <p:cNvSpPr/>
          <p:nvPr/>
        </p:nvSpPr>
        <p:spPr>
          <a:xfrm>
            <a:off x="320040" y="2743200"/>
            <a:ext cx="8503920" cy="1828800"/>
          </a:xfrm>
          <a:prstGeom prst="rect">
            <a:avLst/>
          </a:prstGeom>
          <a:solidFill>
            <a:srgbClr val="F4F4F4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320040" y="2743200"/>
            <a:ext cx="8503920" cy="347472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457200" y="27432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PRÉREQUIS TECHNIQUES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40080" y="3163824"/>
            <a:ext cx="475488" cy="475488"/>
          </a:xfrm>
          <a:prstGeom prst="ellipse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640080" y="31638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📶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65760" y="3712464"/>
            <a:ext cx="1024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Connexion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5760" y="4078224"/>
            <a:ext cx="1024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4G ou WiFi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651760" y="3163824"/>
            <a:ext cx="475488" cy="475488"/>
          </a:xfrm>
          <a:prstGeom prst="ellipse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2651760" y="31638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📍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2377440" y="3712464"/>
            <a:ext cx="1024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activé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377440" y="4078224"/>
            <a:ext cx="1024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accordées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663440" y="3163824"/>
            <a:ext cx="475488" cy="475488"/>
          </a:xfrm>
          <a:prstGeom prst="ellipse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4663440" y="31638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📷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4389120" y="3712464"/>
            <a:ext cx="1024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Caméra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389120" y="4078224"/>
            <a:ext cx="1024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photos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QR scan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675120" y="3163824"/>
            <a:ext cx="475488" cy="475488"/>
          </a:xfrm>
          <a:prstGeom prst="ellipse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6675120" y="31638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🔋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6400800" y="3712464"/>
            <a:ext cx="1024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Batterie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00800" y="4078224"/>
            <a:ext cx="1024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30%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recommandé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Shape 30"/>
          <p:cNvSpPr/>
          <p:nvPr/>
        </p:nvSpPr>
        <p:spPr>
          <a:xfrm>
            <a:off x="0" y="4864608"/>
            <a:ext cx="164592" cy="278892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237744" y="4864608"/>
            <a:ext cx="749808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>
              <a:solidFill>
                <a:srgbClr val="88888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900" dirty="0">
              <a:solidFill>
                <a:srgbClr val="88888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900" dirty="0">
              <a:solidFill>
                <a:srgbClr val="88888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900" dirty="0">
              <a:solidFill>
                <a:srgbClr val="88888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900" dirty="0">
              <a:solidFill>
                <a:srgbClr val="88888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900" dirty="0">
              <a:solidFill>
                <a:srgbClr val="88888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900" dirty="0">
              <a:solidFill>
                <a:srgbClr val="88888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900" dirty="0">
              <a:solidFill>
                <a:srgbClr val="88888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900" dirty="0">
              <a:solidFill>
                <a:srgbClr val="88888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900" dirty="0">
              <a:solidFill>
                <a:srgbClr val="88888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900" dirty="0">
              <a:solidFill>
                <a:srgbClr val="88888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900" dirty="0">
              <a:solidFill>
                <a:srgbClr val="88888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900" dirty="0">
              <a:solidFill>
                <a:srgbClr val="88888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MAFA — Guide de Formation Inspector</a:t>
            </a:r>
          </a:p>
          <a:p>
            <a:pPr marL="0" indent="0">
              <a:buNone/>
            </a:pPr>
            <a:endParaRPr lang="en-US" sz="900" dirty="0">
              <a:solidFill>
                <a:srgbClr val="88888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900" dirty="0">
              <a:solidFill>
                <a:srgbClr val="88888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900" dirty="0">
              <a:solidFill>
                <a:srgbClr val="88888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900" dirty="0">
              <a:solidFill>
                <a:srgbClr val="88888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900" dirty="0">
              <a:solidFill>
                <a:srgbClr val="88888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900" dirty="0">
              <a:solidFill>
                <a:srgbClr val="88888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900" dirty="0">
              <a:solidFill>
                <a:srgbClr val="88888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900" dirty="0">
              <a:solidFill>
                <a:srgbClr val="88888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900" dirty="0">
              <a:solidFill>
                <a:srgbClr val="88888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900" dirty="0">
              <a:solidFill>
                <a:srgbClr val="88888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900" dirty="0">
              <a:solidFill>
                <a:srgbClr val="88888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900" dirty="0">
              <a:solidFill>
                <a:srgbClr val="88888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Orange Money Côte d'Ivoire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772400" y="4864608"/>
            <a:ext cx="128016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2064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  STRUCTURE DU FORMULAIRE — 8 ÉTAPES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92608" y="658368"/>
            <a:ext cx="1993392" cy="1773936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402336" y="768096"/>
            <a:ext cx="384048" cy="384048"/>
          </a:xfrm>
          <a:prstGeom prst="ellipse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402336" y="7680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41248" y="7589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🗂️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02336" y="1261872"/>
            <a:ext cx="1773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02336" y="1627632"/>
            <a:ext cx="1773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Marchand &amp; Inspecteur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286000" y="1389888"/>
            <a:ext cx="173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6600"/>
                </a:solidFill>
              </a:rPr>
              <a:t>→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459736" y="658368"/>
            <a:ext cx="1993392" cy="1773936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2569464" y="768096"/>
            <a:ext cx="384048" cy="384048"/>
          </a:xfrm>
          <a:prstGeom prst="ellipse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2569464" y="7680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008376" y="7589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📱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569464" y="1261872"/>
            <a:ext cx="1773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Code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569464" y="1627632"/>
            <a:ext cx="1773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ou saisie manuelle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453128" y="1389888"/>
            <a:ext cx="173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6600"/>
                </a:solidFill>
              </a:rPr>
              <a:t>→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626864" y="658368"/>
            <a:ext cx="1993392" cy="1773936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4736592" y="768096"/>
            <a:ext cx="384048" cy="384048"/>
          </a:xfrm>
          <a:prstGeom prst="ellipse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4736592" y="7680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175504" y="7589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📍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736592" y="1261872"/>
            <a:ext cx="1773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36592" y="1627632"/>
            <a:ext cx="1773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Géolocalisation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620256" y="1389888"/>
            <a:ext cx="173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6600"/>
                </a:solidFill>
              </a:rPr>
              <a:t>→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793992" y="658368"/>
            <a:ext cx="1993392" cy="1773936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6" name="Shape 24"/>
          <p:cNvSpPr/>
          <p:nvPr/>
        </p:nvSpPr>
        <p:spPr>
          <a:xfrm>
            <a:off x="6903720" y="768096"/>
            <a:ext cx="384048" cy="384048"/>
          </a:xfrm>
          <a:prstGeom prst="ellipse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6903720" y="7680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342632" y="7589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6903720" y="1261872"/>
            <a:ext cx="1773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903720" y="1627632"/>
            <a:ext cx="1773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Problèmes identifiés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709160" y="2468880"/>
            <a:ext cx="0" cy="219456"/>
          </a:xfrm>
          <a:prstGeom prst="line">
            <a:avLst/>
          </a:prstGeom>
          <a:noFill/>
          <a:ln w="127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Shape 30"/>
          <p:cNvSpPr/>
          <p:nvPr/>
        </p:nvSpPr>
        <p:spPr>
          <a:xfrm>
            <a:off x="292608" y="2688336"/>
            <a:ext cx="1993392" cy="1773936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3" name="Shape 31"/>
          <p:cNvSpPr/>
          <p:nvPr/>
        </p:nvSpPr>
        <p:spPr>
          <a:xfrm>
            <a:off x="402336" y="2798064"/>
            <a:ext cx="384048" cy="384048"/>
          </a:xfrm>
          <a:prstGeom prst="ellipse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Text 32"/>
          <p:cNvSpPr/>
          <p:nvPr/>
        </p:nvSpPr>
        <p:spPr>
          <a:xfrm>
            <a:off x="402336" y="27980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841248" y="2788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402336" y="3291840"/>
            <a:ext cx="1773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02336" y="3657600"/>
            <a:ext cx="1773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qui a été fait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286000" y="3419856"/>
            <a:ext cx="173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6600"/>
                </a:solidFill>
              </a:rPr>
              <a:t>→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2459736" y="2688336"/>
            <a:ext cx="1993392" cy="1773936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0" name="Shape 38"/>
          <p:cNvSpPr/>
          <p:nvPr/>
        </p:nvSpPr>
        <p:spPr>
          <a:xfrm>
            <a:off x="2569464" y="2798064"/>
            <a:ext cx="384048" cy="384048"/>
          </a:xfrm>
          <a:prstGeom prst="ellipse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1" name="Text 39"/>
          <p:cNvSpPr/>
          <p:nvPr/>
        </p:nvSpPr>
        <p:spPr>
          <a:xfrm>
            <a:off x="2569464" y="27980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3008376" y="2788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📸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2569464" y="3291840"/>
            <a:ext cx="1773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2569464" y="3657600"/>
            <a:ext cx="1773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visuelle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453128" y="3419856"/>
            <a:ext cx="173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6600"/>
                </a:solidFill>
              </a:rPr>
              <a:t>→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4626864" y="2688336"/>
            <a:ext cx="1993392" cy="1773936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7" name="Shape 45"/>
          <p:cNvSpPr/>
          <p:nvPr/>
        </p:nvSpPr>
        <p:spPr>
          <a:xfrm>
            <a:off x="4736592" y="2798064"/>
            <a:ext cx="384048" cy="384048"/>
          </a:xfrm>
          <a:prstGeom prst="ellipse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8" name="Text 46"/>
          <p:cNvSpPr/>
          <p:nvPr/>
        </p:nvSpPr>
        <p:spPr>
          <a:xfrm>
            <a:off x="4736592" y="27980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7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5175504" y="2788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✍️</a:t>
            </a:r>
            <a:endParaRPr lang="en-US" sz="2200" dirty="0"/>
          </a:p>
        </p:txBody>
      </p:sp>
      <p:sp>
        <p:nvSpPr>
          <p:cNvPr id="50" name="Text 48"/>
          <p:cNvSpPr/>
          <p:nvPr/>
        </p:nvSpPr>
        <p:spPr>
          <a:xfrm>
            <a:off x="4736592" y="3291840"/>
            <a:ext cx="1773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4736592" y="3657600"/>
            <a:ext cx="1773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&amp; certification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620256" y="3419856"/>
            <a:ext cx="173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6600"/>
                </a:solidFill>
              </a:rPr>
              <a:t>→</a:t>
            </a:r>
            <a:endParaRPr lang="en-US" sz="1400" dirty="0"/>
          </a:p>
        </p:txBody>
      </p:sp>
      <p:sp>
        <p:nvSpPr>
          <p:cNvPr id="53" name="Shape 51"/>
          <p:cNvSpPr/>
          <p:nvPr/>
        </p:nvSpPr>
        <p:spPr>
          <a:xfrm>
            <a:off x="6793992" y="2688336"/>
            <a:ext cx="1993392" cy="1773936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4" name="Shape 52"/>
          <p:cNvSpPr/>
          <p:nvPr/>
        </p:nvSpPr>
        <p:spPr>
          <a:xfrm>
            <a:off x="6903720" y="2798064"/>
            <a:ext cx="384048" cy="384048"/>
          </a:xfrm>
          <a:prstGeom prst="ellipse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5" name="Text 53"/>
          <p:cNvSpPr/>
          <p:nvPr/>
        </p:nvSpPr>
        <p:spPr>
          <a:xfrm>
            <a:off x="6903720" y="27980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8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7342632" y="2788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57" name="Text 55"/>
          <p:cNvSpPr/>
          <p:nvPr/>
        </p:nvSpPr>
        <p:spPr>
          <a:xfrm>
            <a:off x="6903720" y="3291840"/>
            <a:ext cx="1773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Résumé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6903720" y="3657600"/>
            <a:ext cx="1773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Vérification &amp; soumission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0" name="Shape 58"/>
          <p:cNvSpPr/>
          <p:nvPr/>
        </p:nvSpPr>
        <p:spPr>
          <a:xfrm>
            <a:off x="0" y="4864608"/>
            <a:ext cx="164592" cy="278892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1" name="Text 59"/>
          <p:cNvSpPr/>
          <p:nvPr/>
        </p:nvSpPr>
        <p:spPr>
          <a:xfrm>
            <a:off x="237744" y="4864608"/>
            <a:ext cx="749808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MAFA — Guide de Formation Inspector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7772400" y="4864608"/>
            <a:ext cx="128016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206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80160" cy="512064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1280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ÉTAPE 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371600" y="0"/>
            <a:ext cx="7315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6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🗂️  IDENTIFICATION DU MARCHAND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621792"/>
            <a:ext cx="5074920" cy="329184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411480" y="621792"/>
            <a:ext cx="4892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CHAMPS À RENSEIGNER  (* = Obligatoire)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" y="1024128"/>
            <a:ext cx="5074920" cy="420624"/>
          </a:xfrm>
          <a:prstGeom prst="rect">
            <a:avLst/>
          </a:prstGeom>
          <a:solidFill>
            <a:srgbClr val="F4F4F4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457200" y="1060704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&amp; heure *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286000" y="1060704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et heure d'arrivée sur place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" y="1499616"/>
            <a:ext cx="50749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457200" y="153619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 du marchand *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286000" y="153619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Prénom et nom complet — vérifier conformité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0040" y="1975104"/>
            <a:ext cx="5074920" cy="420624"/>
          </a:xfrm>
          <a:prstGeom prst="rect">
            <a:avLst/>
          </a:prstGeom>
          <a:solidFill>
            <a:srgbClr val="F4F4F4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457200" y="201168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marchand *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286000" y="201168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OM-CI-XXXXX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0040" y="2450592"/>
            <a:ext cx="50749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457200" y="248716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Commune / Quartier *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286000" y="2487168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Sélectionner le bloc géographique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0040" y="2926080"/>
            <a:ext cx="5074920" cy="420624"/>
          </a:xfrm>
          <a:prstGeom prst="rect">
            <a:avLst/>
          </a:prstGeom>
          <a:solidFill>
            <a:srgbClr val="F4F4F4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457200" y="2962656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Activité principale *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286000" y="2962656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Vérifier si conforme au dossier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20040" y="3401568"/>
            <a:ext cx="50749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457200" y="3438144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Raison de la visite *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2286000" y="3438144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Injoignable / Suivi / Formation...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20040" y="3877056"/>
            <a:ext cx="5074920" cy="420624"/>
          </a:xfrm>
          <a:prstGeom prst="rect">
            <a:avLst/>
          </a:prstGeom>
          <a:solidFill>
            <a:srgbClr val="F4F4F4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457200" y="391363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 de l'inspecteur *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286000" y="391363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Votre identité complète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577840" y="621792"/>
            <a:ext cx="3246120" cy="329184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5669280" y="621792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 DU MARCHAND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577840" y="1024128"/>
            <a:ext cx="3246120" cy="877824"/>
          </a:xfrm>
          <a:prstGeom prst="rect">
            <a:avLst/>
          </a:prstGeom>
          <a:solidFill>
            <a:srgbClr val="E8F5ED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2" name="Text 30"/>
          <p:cNvSpPr/>
          <p:nvPr/>
        </p:nvSpPr>
        <p:spPr>
          <a:xfrm>
            <a:off x="5650992" y="1097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🟢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6108192" y="1097280"/>
            <a:ext cx="2633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Actif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6108192" y="1435608"/>
            <a:ext cx="2633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Utilise Orange Money activement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577840" y="1975104"/>
            <a:ext cx="3246120" cy="877824"/>
          </a:xfrm>
          <a:prstGeom prst="rect">
            <a:avLst/>
          </a:prstGeom>
          <a:solidFill>
            <a:srgbClr val="FDEDEC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6" name="Text 34"/>
          <p:cNvSpPr/>
          <p:nvPr/>
        </p:nvSpPr>
        <p:spPr>
          <a:xfrm>
            <a:off x="5650992" y="204825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🔴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6108192" y="2048256"/>
            <a:ext cx="2633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Inactif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6108192" y="2386584"/>
            <a:ext cx="2633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transaction récente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577840" y="2926080"/>
            <a:ext cx="3246120" cy="877824"/>
          </a:xfrm>
          <a:prstGeom prst="rect">
            <a:avLst/>
          </a:prstGeom>
          <a:solidFill>
            <a:srgbClr val="FDEDEC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0" name="Text 38"/>
          <p:cNvSpPr/>
          <p:nvPr/>
        </p:nvSpPr>
        <p:spPr>
          <a:xfrm>
            <a:off x="5650992" y="29992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🔒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6108192" y="2999232"/>
            <a:ext cx="2633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 bloqué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6108192" y="3337560"/>
            <a:ext cx="2633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Escalade technique requise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577840" y="3877056"/>
            <a:ext cx="3246120" cy="877824"/>
          </a:xfrm>
          <a:prstGeom prst="rect">
            <a:avLst/>
          </a:prstGeom>
          <a:solidFill>
            <a:srgbClr val="EBF2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4" name="Text 42"/>
          <p:cNvSpPr/>
          <p:nvPr/>
        </p:nvSpPr>
        <p:spPr>
          <a:xfrm>
            <a:off x="5650992" y="39502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🆕</a:t>
            </a:r>
            <a:endParaRPr lang="en-US" sz="2200" dirty="0"/>
          </a:p>
        </p:txBody>
      </p:sp>
      <p:sp>
        <p:nvSpPr>
          <p:cNvPr id="45" name="Text 43"/>
          <p:cNvSpPr/>
          <p:nvPr/>
        </p:nvSpPr>
        <p:spPr>
          <a:xfrm>
            <a:off x="6108192" y="3950208"/>
            <a:ext cx="2633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Nouveau (J+2)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6108192" y="4288536"/>
            <a:ext cx="2633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Enrôlement récent — priorité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8" name="Shape 46"/>
          <p:cNvSpPr/>
          <p:nvPr/>
        </p:nvSpPr>
        <p:spPr>
          <a:xfrm>
            <a:off x="0" y="4864608"/>
            <a:ext cx="164592" cy="278892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9" name="Text 47"/>
          <p:cNvSpPr/>
          <p:nvPr/>
        </p:nvSpPr>
        <p:spPr>
          <a:xfrm>
            <a:off x="237744" y="4864608"/>
            <a:ext cx="749808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MAFA — Guide de Formation Inspector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7772400" y="4864608"/>
            <a:ext cx="128016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1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206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6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ÉTAPES 2 &amp; 3  —  QR CODE &amp; POSITION GPS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" y="658368"/>
            <a:ext cx="4160520" cy="3913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320040" y="658368"/>
            <a:ext cx="4160520" cy="402336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457200" y="658368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ÉTAPE 2 — QR CODE MARCHAND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133856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🔢  Procédure de scan :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499616"/>
            <a:ext cx="256032" cy="256032"/>
          </a:xfrm>
          <a:prstGeom prst="ellipse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457200" y="14996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04672" y="1517904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Appuyez sur « Scanner le QR Code »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1975104"/>
            <a:ext cx="256032" cy="256032"/>
          </a:xfrm>
          <a:prstGeom prst="ellipse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457200" y="19751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04672" y="1993392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Pointez la caméra vers le sticker du terminal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450592"/>
            <a:ext cx="256032" cy="256032"/>
          </a:xfrm>
          <a:prstGeom prst="ellipse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457200" y="24505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04672" y="2468880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code est reconnu et affiché en vert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926080"/>
            <a:ext cx="256032" cy="256032"/>
          </a:xfrm>
          <a:prstGeom prst="ellipse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457200" y="29260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04672" y="2944368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code marchand est pré-rempli automatiquement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456432"/>
            <a:ext cx="3931920" cy="768096"/>
          </a:xfrm>
          <a:prstGeom prst="rect">
            <a:avLst/>
          </a:prstGeom>
          <a:solidFill>
            <a:srgbClr val="EBF2FF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594360" y="34930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Si QR illisible :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94360" y="3749040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Saisir le code manuellement (OM-CI-XXXXX). Un QR de confirmation est généré.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663440" y="658368"/>
            <a:ext cx="4160520" cy="3913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4" name="Shape 22"/>
          <p:cNvSpPr/>
          <p:nvPr/>
        </p:nvSpPr>
        <p:spPr>
          <a:xfrm>
            <a:off x="4663440" y="658368"/>
            <a:ext cx="4160520" cy="402336"/>
          </a:xfrm>
          <a:prstGeom prst="rect">
            <a:avLst/>
          </a:prstGeom>
          <a:solidFill>
            <a:srgbClr val="1A7A3C"/>
          </a:solidFill>
          <a:ln w="12700">
            <a:solidFill>
              <a:srgbClr val="1A7A3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4800600" y="658368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 ÉTAPE 3 — POSITION GPS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00600" y="1133856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Niveaux de précision requis :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800600" y="1517904"/>
            <a:ext cx="3913632" cy="512064"/>
          </a:xfrm>
          <a:prstGeom prst="rect">
            <a:avLst/>
          </a:prstGeom>
          <a:solidFill>
            <a:srgbClr val="E8F5ED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4892040" y="1572768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5 m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989320" y="1572768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Excellent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800600" y="2103120"/>
            <a:ext cx="3913632" cy="512064"/>
          </a:xfrm>
          <a:prstGeom prst="rect">
            <a:avLst/>
          </a:prstGeom>
          <a:solidFill>
            <a:srgbClr val="FEF5E7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4892040" y="2157984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– 15 m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989320" y="2157984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Acceptable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800600" y="2688336"/>
            <a:ext cx="3913632" cy="512064"/>
          </a:xfrm>
          <a:prstGeom prst="rect">
            <a:avLst/>
          </a:prstGeom>
          <a:solidFill>
            <a:srgbClr val="FDEDEC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Text 32"/>
          <p:cNvSpPr/>
          <p:nvPr/>
        </p:nvSpPr>
        <p:spPr>
          <a:xfrm>
            <a:off x="4892040" y="2743200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15 m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989320" y="2743200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Insuffisant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800600" y="3310128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Conseils :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864608" y="3621024"/>
            <a:ext cx="3840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Rester immobile jusqu'à la capture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Préférer l'extérieur du bâtiment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incorrect : photographier l'emplacement réel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9" name="Shape 37"/>
          <p:cNvSpPr/>
          <p:nvPr/>
        </p:nvSpPr>
        <p:spPr>
          <a:xfrm>
            <a:off x="0" y="4864608"/>
            <a:ext cx="164592" cy="278892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0" name="Text 38"/>
          <p:cNvSpPr/>
          <p:nvPr/>
        </p:nvSpPr>
        <p:spPr>
          <a:xfrm>
            <a:off x="237744" y="4864608"/>
            <a:ext cx="749808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MAFA — Guide de Formation Inspector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772400" y="4864608"/>
            <a:ext cx="128016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Étapes 2 &amp; 3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206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80160" cy="5120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1280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ÉTAPE 4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371600" y="0"/>
            <a:ext cx="7315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6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🔍  DIAGNOSTIC TERRAIN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621792"/>
            <a:ext cx="5760720" cy="310896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457200" y="621792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PROBLÈMES IDENTIFIÉS (cocher tous ceux qui s'appliquent)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0040" y="1005840"/>
            <a:ext cx="2743200" cy="658368"/>
          </a:xfrm>
          <a:prstGeom prst="rect">
            <a:avLst/>
          </a:prstGeom>
          <a:solidFill>
            <a:srgbClr val="FDEDEC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393192" y="1115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🔒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50392" y="1060704"/>
            <a:ext cx="2121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 bloqué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50392" y="1371600"/>
            <a:ext cx="21214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— URGENT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0040" y="1755648"/>
            <a:ext cx="2743200" cy="658368"/>
          </a:xfrm>
          <a:prstGeom prst="rect">
            <a:avLst/>
          </a:prstGeom>
          <a:solidFill>
            <a:srgbClr val="FDEDEC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393192" y="1865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❌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50392" y="1810512"/>
            <a:ext cx="2121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échouée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50392" y="2121408"/>
            <a:ext cx="21214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— Argent disparu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" y="2505456"/>
            <a:ext cx="2743200" cy="658368"/>
          </a:xfrm>
          <a:prstGeom prst="rect">
            <a:avLst/>
          </a:prstGeom>
          <a:solidFill>
            <a:srgbClr val="FEF5E7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393192" y="2615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🔑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50392" y="2560320"/>
            <a:ext cx="2121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PIN bloqué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50392" y="2871216"/>
            <a:ext cx="21214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PIN requis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0040" y="3255264"/>
            <a:ext cx="2743200" cy="658368"/>
          </a:xfrm>
          <a:prstGeom prst="rect">
            <a:avLst/>
          </a:prstGeom>
          <a:solidFill>
            <a:srgbClr val="FEF5E7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393192" y="33649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📶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50392" y="3310128"/>
            <a:ext cx="2121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Problème réseau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50392" y="3621024"/>
            <a:ext cx="21214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Tester la connexion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0040" y="4005072"/>
            <a:ext cx="2743200" cy="658368"/>
          </a:xfrm>
          <a:prstGeom prst="rect">
            <a:avLst/>
          </a:prstGeom>
          <a:solidFill>
            <a:srgbClr val="F4F4F4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393192" y="4114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📱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850392" y="4059936"/>
            <a:ext cx="2121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phone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50392" y="4370832"/>
            <a:ext cx="21214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Incompatible (besklar)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172968" y="1005840"/>
            <a:ext cx="2743200" cy="658368"/>
          </a:xfrm>
          <a:prstGeom prst="rect">
            <a:avLst/>
          </a:prstGeom>
          <a:solidFill>
            <a:srgbClr val="EBF2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3246120" y="1115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📚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3703320" y="1060704"/>
            <a:ext cx="2121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Besoin de formation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3703320" y="1371600"/>
            <a:ext cx="21214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sur place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172968" y="1755648"/>
            <a:ext cx="2743200" cy="658368"/>
          </a:xfrm>
          <a:prstGeom prst="rect">
            <a:avLst/>
          </a:prstGeom>
          <a:solidFill>
            <a:srgbClr val="EBF2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3246120" y="1865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💵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3703320" y="1810512"/>
            <a:ext cx="2121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Manque de float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3703320" y="2121408"/>
            <a:ext cx="21214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Rechargement requis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172968" y="2505456"/>
            <a:ext cx="2743200" cy="658368"/>
          </a:xfrm>
          <a:prstGeom prst="rect">
            <a:avLst/>
          </a:prstGeom>
          <a:solidFill>
            <a:srgbClr val="F4F4F4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Text 35"/>
          <p:cNvSpPr/>
          <p:nvPr/>
        </p:nvSpPr>
        <p:spPr>
          <a:xfrm>
            <a:off x="3246120" y="2615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⚔️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3703320" y="2560320"/>
            <a:ext cx="2121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Utilise un concurrent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3703320" y="2871216"/>
            <a:ext cx="21214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/ MTN / Moov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172968" y="3255264"/>
            <a:ext cx="2743200" cy="658368"/>
          </a:xfrm>
          <a:prstGeom prst="rect">
            <a:avLst/>
          </a:prstGeom>
          <a:solidFill>
            <a:srgbClr val="E8F5ED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1" name="Text 39"/>
          <p:cNvSpPr/>
          <p:nvPr/>
        </p:nvSpPr>
        <p:spPr>
          <a:xfrm>
            <a:off x="3246120" y="33649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3703320" y="3310128"/>
            <a:ext cx="2121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problème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3703320" y="3621024"/>
            <a:ext cx="21214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Marchand satisfait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263640" y="621792"/>
            <a:ext cx="2560320" cy="310896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5" name="Text 43"/>
          <p:cNvSpPr/>
          <p:nvPr/>
        </p:nvSpPr>
        <p:spPr>
          <a:xfrm>
            <a:off x="6355080" y="62179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NIVEAUX D'URGENCE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6263640" y="1005840"/>
            <a:ext cx="2560320" cy="1133856"/>
          </a:xfrm>
          <a:prstGeom prst="rect">
            <a:avLst/>
          </a:prstGeom>
          <a:solidFill>
            <a:srgbClr val="FDEDEC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7" name="Text 45"/>
          <p:cNvSpPr/>
          <p:nvPr/>
        </p:nvSpPr>
        <p:spPr>
          <a:xfrm>
            <a:off x="6355080" y="107899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P1</a:t>
            </a:r>
            <a:endParaRPr lang="en-US" sz="1500" dirty="0"/>
          </a:p>
        </p:txBody>
      </p:sp>
      <p:sp>
        <p:nvSpPr>
          <p:cNvPr id="48" name="Text 46"/>
          <p:cNvSpPr/>
          <p:nvPr/>
        </p:nvSpPr>
        <p:spPr>
          <a:xfrm>
            <a:off x="6355080" y="142646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355080" y="168249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 heures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7498080" y="1335024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 bloqué</a:t>
            </a:r>
            <a:endParaRPr lang="en-US" sz="900" dirty="0"/>
          </a:p>
          <a:p>
            <a:pPr marL="0" indent="0" algn="r">
              <a:buNone/>
            </a:pPr>
            <a:r>
              <a:rPr lang="en-US" sz="9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échouée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263640" y="2249424"/>
            <a:ext cx="2560320" cy="1133856"/>
          </a:xfrm>
          <a:prstGeom prst="rect">
            <a:avLst/>
          </a:prstGeom>
          <a:solidFill>
            <a:srgbClr val="FEF5E7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2" name="Text 50"/>
          <p:cNvSpPr/>
          <p:nvPr/>
        </p:nvSpPr>
        <p:spPr>
          <a:xfrm>
            <a:off x="6355080" y="2322576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P2</a:t>
            </a:r>
            <a:endParaRPr lang="en-US" sz="1500" dirty="0"/>
          </a:p>
        </p:txBody>
      </p:sp>
      <p:sp>
        <p:nvSpPr>
          <p:cNvPr id="53" name="Text 51"/>
          <p:cNvSpPr/>
          <p:nvPr/>
        </p:nvSpPr>
        <p:spPr>
          <a:xfrm>
            <a:off x="6355080" y="267004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HAUTE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6355080" y="292608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24 heures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7498080" y="2578608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bloqué</a:t>
            </a:r>
            <a:endParaRPr lang="en-US" sz="900" dirty="0"/>
          </a:p>
          <a:p>
            <a:pPr marL="0" indent="0" algn="r">
              <a:buNone/>
            </a:pPr>
            <a:r>
              <a:rPr lang="en-US" sz="90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Problème réseau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6263640" y="3493008"/>
            <a:ext cx="2560320" cy="1133856"/>
          </a:xfrm>
          <a:prstGeom prst="rect">
            <a:avLst/>
          </a:prstGeom>
          <a:solidFill>
            <a:srgbClr val="E8F5ED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7" name="Text 55"/>
          <p:cNvSpPr/>
          <p:nvPr/>
        </p:nvSpPr>
        <p:spPr>
          <a:xfrm>
            <a:off x="6355080" y="356616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P3</a:t>
            </a:r>
            <a:endParaRPr lang="en-US" sz="1500" dirty="0"/>
          </a:p>
        </p:txBody>
      </p:sp>
      <p:sp>
        <p:nvSpPr>
          <p:cNvPr id="58" name="Text 56"/>
          <p:cNvSpPr/>
          <p:nvPr/>
        </p:nvSpPr>
        <p:spPr>
          <a:xfrm>
            <a:off x="6355080" y="391363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6355080" y="416966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5 jours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7498080" y="3822192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1A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</a:t>
            </a:r>
            <a:endParaRPr lang="en-US" sz="900" dirty="0"/>
          </a:p>
          <a:p>
            <a:pPr marL="0" indent="0" algn="r">
              <a:buNone/>
            </a:pPr>
            <a:r>
              <a:rPr lang="en-US" sz="900" dirty="0">
                <a:solidFill>
                  <a:srgbClr val="1A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Commissions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2" name="Shape 60"/>
          <p:cNvSpPr/>
          <p:nvPr/>
        </p:nvSpPr>
        <p:spPr>
          <a:xfrm>
            <a:off x="0" y="4864608"/>
            <a:ext cx="164592" cy="278892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3" name="Text 61"/>
          <p:cNvSpPr/>
          <p:nvPr/>
        </p:nvSpPr>
        <p:spPr>
          <a:xfrm>
            <a:off x="237744" y="4864608"/>
            <a:ext cx="749808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MAFA — Guide de Formation Inspecteur  |  Orange Money Côte d'Ivoire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7772400" y="4864608"/>
            <a:ext cx="128016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206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6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ÉTAPES 5 &amp; 6  —  ACTIONS EFFECTUÉES &amp; PHOTOS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" y="658368"/>
            <a:ext cx="5074920" cy="3913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320040" y="658368"/>
            <a:ext cx="5074920" cy="384048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457200" y="658368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ÉTAPE 5 — ACTIONS EFFECTUÉES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1480" y="1115568"/>
            <a:ext cx="4892040" cy="347472"/>
          </a:xfrm>
          <a:prstGeom prst="rect">
            <a:avLst/>
          </a:prstGeom>
          <a:solidFill>
            <a:srgbClr val="F4F4F4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475488" y="11521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0000"/>
                </a:solidFill>
              </a:rPr>
              <a:t>📚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1152144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complète (30 min+)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11480" y="1499616"/>
            <a:ext cx="48920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475488" y="15361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0000"/>
                </a:solidFill>
              </a:rPr>
              <a:t>⚡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2960" y="153619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Rappel rapide des fonctionnalités (15 min)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11480" y="1883664"/>
            <a:ext cx="4892040" cy="347472"/>
          </a:xfrm>
          <a:prstGeom prst="rect">
            <a:avLst/>
          </a:prstGeom>
          <a:solidFill>
            <a:srgbClr val="F4F4F4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475488" y="1920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0000"/>
                </a:solidFill>
              </a:rPr>
              <a:t>🔑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2960" y="19202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du code PIN initié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11480" y="2267712"/>
            <a:ext cx="48920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475488" y="23042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0000"/>
                </a:solidFill>
              </a:rPr>
              <a:t>💳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2960" y="230428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test effectuée avec succès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11480" y="2651760"/>
            <a:ext cx="4892040" cy="347472"/>
          </a:xfrm>
          <a:prstGeom prst="rect">
            <a:avLst/>
          </a:prstGeom>
          <a:solidFill>
            <a:srgbClr val="F4F4F4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475488" y="26883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0000"/>
                </a:solidFill>
              </a:rPr>
              <a:t>🎫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22960" y="2688336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escalade Orange CI créé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11480" y="3035808"/>
            <a:ext cx="48920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475488" y="30723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0000"/>
                </a:solidFill>
              </a:rPr>
              <a:t>💰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22960" y="3072384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Grille des commissions expliquée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11480" y="3419856"/>
            <a:ext cx="4892040" cy="347472"/>
          </a:xfrm>
          <a:prstGeom prst="rect">
            <a:avLst/>
          </a:prstGeom>
          <a:solidFill>
            <a:srgbClr val="F4F4F4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475488" y="34564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0000"/>
                </a:solidFill>
              </a:rPr>
              <a:t>🖨️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22960" y="345643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Sticker / matériel remis au marchand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11480" y="3803904"/>
            <a:ext cx="48920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475488" y="3840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0000"/>
                </a:solidFill>
              </a:rPr>
              <a:t>📞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822960" y="384048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mis à jour dans le système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11480" y="4187952"/>
            <a:ext cx="4892040" cy="347472"/>
          </a:xfrm>
          <a:prstGeom prst="rect">
            <a:avLst/>
          </a:prstGeom>
          <a:solidFill>
            <a:srgbClr val="F4F4F4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Text 30"/>
          <p:cNvSpPr/>
          <p:nvPr/>
        </p:nvSpPr>
        <p:spPr>
          <a:xfrm>
            <a:off x="475488" y="42245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0000"/>
                </a:solidFill>
              </a:rPr>
              <a:t>✅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22960" y="422452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action requise — marchand OK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577840" y="658368"/>
            <a:ext cx="3246120" cy="3913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5" name="Shape 33"/>
          <p:cNvSpPr/>
          <p:nvPr/>
        </p:nvSpPr>
        <p:spPr>
          <a:xfrm>
            <a:off x="5577840" y="658368"/>
            <a:ext cx="3246120" cy="38404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Text 34"/>
          <p:cNvSpPr/>
          <p:nvPr/>
        </p:nvSpPr>
        <p:spPr>
          <a:xfrm>
            <a:off x="5715000" y="65836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📸  ÉTAPE 6 — PHOTOS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669280" y="1133856"/>
            <a:ext cx="3035808" cy="585216"/>
          </a:xfrm>
          <a:prstGeom prst="rect">
            <a:avLst/>
          </a:prstGeom>
          <a:solidFill>
            <a:srgbClr val="FDEDEC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8" name="Text 36"/>
          <p:cNvSpPr/>
          <p:nvPr/>
        </p:nvSpPr>
        <p:spPr>
          <a:xfrm>
            <a:off x="5760720" y="1170432"/>
            <a:ext cx="2852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Minimum 1 photo obligatoire pour valider la soumission.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5669280" y="1847088"/>
            <a:ext cx="3035808" cy="713232"/>
          </a:xfrm>
          <a:prstGeom prst="rect">
            <a:avLst/>
          </a:prstGeom>
          <a:solidFill>
            <a:srgbClr val="FFF3EB"/>
          </a:solidFill>
          <a:ln w="127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0" name="Text 38"/>
          <p:cNvSpPr/>
          <p:nvPr/>
        </p:nvSpPr>
        <p:spPr>
          <a:xfrm>
            <a:off x="5742432" y="19385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📷</a:t>
            </a:r>
            <a:endParaRPr lang="en-US" sz="2000" dirty="0"/>
          </a:p>
        </p:txBody>
      </p:sp>
      <p:sp>
        <p:nvSpPr>
          <p:cNvPr id="41" name="Text 39"/>
          <p:cNvSpPr/>
          <p:nvPr/>
        </p:nvSpPr>
        <p:spPr>
          <a:xfrm>
            <a:off x="6217920" y="1901952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Devanture *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217920" y="2194560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générale du commerce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669280" y="2651760"/>
            <a:ext cx="3035808" cy="713232"/>
          </a:xfrm>
          <a:prstGeom prst="rect">
            <a:avLst/>
          </a:prstGeom>
          <a:solidFill>
            <a:srgbClr val="F4F4F4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4" name="Text 42"/>
          <p:cNvSpPr/>
          <p:nvPr/>
        </p:nvSpPr>
        <p:spPr>
          <a:xfrm>
            <a:off x="5742432" y="27432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📱</a:t>
            </a:r>
            <a:endParaRPr lang="en-US" sz="2000" dirty="0"/>
          </a:p>
        </p:txBody>
      </p:sp>
      <p:sp>
        <p:nvSpPr>
          <p:cNvPr id="45" name="Text 43"/>
          <p:cNvSpPr/>
          <p:nvPr/>
        </p:nvSpPr>
        <p:spPr>
          <a:xfrm>
            <a:off x="6217920" y="2706624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217920" y="2999232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Équipement du marchand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669280" y="3456432"/>
            <a:ext cx="3035808" cy="713232"/>
          </a:xfrm>
          <a:prstGeom prst="rect">
            <a:avLst/>
          </a:prstGeom>
          <a:solidFill>
            <a:srgbClr val="F4F4F4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8" name="Text 46"/>
          <p:cNvSpPr/>
          <p:nvPr/>
        </p:nvSpPr>
        <p:spPr>
          <a:xfrm>
            <a:off x="5742432" y="35478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⚠️</a:t>
            </a:r>
            <a:endParaRPr lang="en-US" sz="2000" dirty="0"/>
          </a:p>
        </p:txBody>
      </p:sp>
      <p:sp>
        <p:nvSpPr>
          <p:cNvPr id="49" name="Text 47"/>
          <p:cNvSpPr/>
          <p:nvPr/>
        </p:nvSpPr>
        <p:spPr>
          <a:xfrm>
            <a:off x="6217920" y="3511296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Problème constaté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6217920" y="3803904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Documenter tout dysfonctionnement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5669280" y="4261104"/>
            <a:ext cx="3035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Comment prendre une photo :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5669280" y="4480560"/>
            <a:ext cx="3035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Appuyez sur la zone → caméra s'ouvre → prenez → confirmez.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4" name="Shape 52"/>
          <p:cNvSpPr/>
          <p:nvPr/>
        </p:nvSpPr>
        <p:spPr>
          <a:xfrm>
            <a:off x="0" y="4864608"/>
            <a:ext cx="164592" cy="278892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5" name="Text 53"/>
          <p:cNvSpPr/>
          <p:nvPr/>
        </p:nvSpPr>
        <p:spPr>
          <a:xfrm>
            <a:off x="237744" y="4864608"/>
            <a:ext cx="749808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MAFA — Guide de Formation Inspecteur  |  Orange Money Côte d'Ivoire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7772400" y="4864608"/>
            <a:ext cx="128016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Étapes 5 &amp; 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206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6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ÉTAPES 7 &amp; 8  —  SIGNATURE &amp; SOUMISSION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" y="658368"/>
            <a:ext cx="4160520" cy="3913632"/>
          </a:xfrm>
          <a:prstGeom prst="rect">
            <a:avLst/>
          </a:prstGeom>
          <a:solidFill>
            <a:srgbClr val="FAFAFA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320040" y="658368"/>
            <a:ext cx="4160520" cy="384048"/>
          </a:xfrm>
          <a:prstGeom prst="rect">
            <a:avLst/>
          </a:prstGeom>
          <a:solidFill>
            <a:srgbClr val="CC5200"/>
          </a:solidFill>
          <a:ln w="12700">
            <a:solidFill>
              <a:srgbClr val="CC52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457200" y="65836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ÉTAPE 7 — SIGNATURE &amp; VALIDATION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152144"/>
            <a:ext cx="3913632" cy="786384"/>
          </a:xfrm>
          <a:prstGeom prst="rect">
            <a:avLst/>
          </a:prstGeom>
          <a:solidFill>
            <a:srgbClr val="FFF3EB"/>
          </a:solidFill>
          <a:ln w="127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530352" y="1335024"/>
            <a:ext cx="384048" cy="384048"/>
          </a:xfrm>
          <a:prstGeom prst="ellipse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530352" y="13350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!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1207008"/>
            <a:ext cx="3273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 Inspecteur *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1005840" y="1536192"/>
            <a:ext cx="3273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Obligatoire — certifie la visite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066544"/>
            <a:ext cx="3913632" cy="786384"/>
          </a:xfrm>
          <a:prstGeom prst="rect">
            <a:avLst/>
          </a:prstGeom>
          <a:solidFill>
            <a:srgbClr val="EBF2FF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530352" y="2249424"/>
            <a:ext cx="384048" cy="384048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530352" y="22494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i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05840" y="2121408"/>
            <a:ext cx="3273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 Marchand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005840" y="2450592"/>
            <a:ext cx="3273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Optionnelle si marchand présent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980944"/>
            <a:ext cx="3913632" cy="786384"/>
          </a:xfrm>
          <a:prstGeom prst="rect">
            <a:avLst/>
          </a:prstGeom>
          <a:solidFill>
            <a:srgbClr val="FFF3EB"/>
          </a:solidFill>
          <a:ln w="127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530352" y="3163824"/>
            <a:ext cx="384048" cy="384048"/>
          </a:xfrm>
          <a:prstGeom prst="ellipse">
            <a:avLst/>
          </a:prstGeom>
          <a:solidFill>
            <a:srgbClr val="1A7A3C"/>
          </a:solidFill>
          <a:ln w="12700">
            <a:solidFill>
              <a:srgbClr val="1A7A3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530352" y="31638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!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05840" y="3035808"/>
            <a:ext cx="3273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de certification *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1005840" y="3364992"/>
            <a:ext cx="3273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Je certifie que les informations sont exactes »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877056"/>
            <a:ext cx="3913632" cy="530352"/>
          </a:xfrm>
          <a:prstGeom prst="rect">
            <a:avLst/>
          </a:prstGeom>
          <a:solidFill>
            <a:srgbClr val="FDEDEC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566928" y="3913632"/>
            <a:ext cx="3712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 Une fois soumise, la fiche ne peut plus être modifiée. Vérifiez avant d'envoyer.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663440" y="658368"/>
            <a:ext cx="4160520" cy="3913632"/>
          </a:xfrm>
          <a:prstGeom prst="rect">
            <a:avLst/>
          </a:prstGeom>
          <a:solidFill>
            <a:srgbClr val="E8F5ED"/>
          </a:solidFill>
          <a:ln w="12700">
            <a:solidFill>
              <a:srgbClr val="AADDB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4663440" y="658368"/>
            <a:ext cx="4160520" cy="384048"/>
          </a:xfrm>
          <a:prstGeom prst="rect">
            <a:avLst/>
          </a:prstGeom>
          <a:solidFill>
            <a:srgbClr val="1A7A3C"/>
          </a:solidFill>
          <a:ln w="12700">
            <a:solidFill>
              <a:srgbClr val="1A7A3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4800600" y="65836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ÉTAPE 8 — RÉSUMÉ &amp; SOUMISSION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00600" y="111556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Informations récapitulées :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64608" y="1426464"/>
            <a:ext cx="3858768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Référence unique de visite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Date, heure, inspecteur, marchand, code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Commune, statut, niveau d'urgence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Coordonnées GPS + précision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Problèmes identifiés &amp; actions effectuées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Résultat de visite + numéro ticket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Nombre de photos ajoutées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État des signatures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800600" y="3038619"/>
            <a:ext cx="3913632" cy="384048"/>
          </a:xfrm>
          <a:prstGeom prst="rect">
            <a:avLst/>
          </a:prstGeom>
          <a:solidFill>
            <a:srgbClr val="1A7A3C"/>
          </a:solidFill>
          <a:ln w="12700">
            <a:solidFill>
              <a:srgbClr val="1A7A3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4892040" y="3038619"/>
            <a:ext cx="3730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PROCÉDURE DE SOUMISSION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864608" y="3495819"/>
            <a:ext cx="385876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Vérifier toutes les lignes du résumé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Appuyer sur « 📤 Soumettre la fiche »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Attendre la confirmation (~2 secondes)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Écran de succès = transmission confirmée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1" name="Shape 39"/>
          <p:cNvSpPr/>
          <p:nvPr/>
        </p:nvSpPr>
        <p:spPr>
          <a:xfrm>
            <a:off x="0" y="4864608"/>
            <a:ext cx="164592" cy="278892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2" name="Text 40"/>
          <p:cNvSpPr/>
          <p:nvPr/>
        </p:nvSpPr>
        <p:spPr>
          <a:xfrm>
            <a:off x="237744" y="4864608"/>
            <a:ext cx="749808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MAFA — Guide de Formation Inspector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772400" y="4864608"/>
            <a:ext cx="128016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Étapes 7 &amp; 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2064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  CHECKLIST AVANT SOUMISSION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" y="658368"/>
            <a:ext cx="4160520" cy="457200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411480" y="749808"/>
            <a:ext cx="256032" cy="256032"/>
          </a:xfrm>
          <a:prstGeom prst="rect">
            <a:avLst/>
          </a:prstGeom>
          <a:solidFill>
            <a:srgbClr val="1A1A1A"/>
          </a:solidFill>
          <a:ln w="127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777240" y="749808"/>
            <a:ext cx="713232" cy="256032"/>
          </a:xfrm>
          <a:prstGeom prst="roundRect">
            <a:avLst>
              <a:gd name="adj" fmla="val 14286"/>
            </a:avLst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777240" y="749808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1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581912" y="731520"/>
            <a:ext cx="2816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Date, heure, nom marchand, code et commune renseignés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" y="1188720"/>
            <a:ext cx="4160520" cy="457200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411480" y="1280160"/>
            <a:ext cx="256032" cy="256032"/>
          </a:xfrm>
          <a:prstGeom prst="rect">
            <a:avLst/>
          </a:prstGeom>
          <a:solidFill>
            <a:srgbClr val="1A1A1A"/>
          </a:solidFill>
          <a:ln w="127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777240" y="1280160"/>
            <a:ext cx="713232" cy="256032"/>
          </a:xfrm>
          <a:prstGeom prst="roundRect">
            <a:avLst>
              <a:gd name="adj" fmla="val 14286"/>
            </a:avLst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777240" y="1280160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1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581912" y="1261872"/>
            <a:ext cx="2816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 du marchand sélectionné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0040" y="1719072"/>
            <a:ext cx="4160520" cy="457200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411480" y="1810512"/>
            <a:ext cx="256032" cy="256032"/>
          </a:xfrm>
          <a:prstGeom prst="rect">
            <a:avLst/>
          </a:prstGeom>
          <a:solidFill>
            <a:srgbClr val="1A1A1A"/>
          </a:solidFill>
          <a:ln w="127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777240" y="1810512"/>
            <a:ext cx="713232" cy="256032"/>
          </a:xfrm>
          <a:prstGeom prst="roundRect">
            <a:avLst>
              <a:gd name="adj" fmla="val 14286"/>
            </a:avLst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777240" y="1810512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1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581912" y="1792224"/>
            <a:ext cx="2816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Conformité du nom et de l'activité vérifiée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20040" y="2249424"/>
            <a:ext cx="4160520" cy="457200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411480" y="2340864"/>
            <a:ext cx="256032" cy="256032"/>
          </a:xfrm>
          <a:prstGeom prst="rect">
            <a:avLst/>
          </a:prstGeom>
          <a:solidFill>
            <a:srgbClr val="1A1A1A"/>
          </a:solidFill>
          <a:ln w="127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777240" y="2340864"/>
            <a:ext cx="713232" cy="256032"/>
          </a:xfrm>
          <a:prstGeom prst="roundRect">
            <a:avLst>
              <a:gd name="adj" fmla="val 14286"/>
            </a:avLst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777240" y="2340864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2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581912" y="2322576"/>
            <a:ext cx="2816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Code scanné ou code saisi manuellement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20040" y="2779776"/>
            <a:ext cx="4160520" cy="457200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411480" y="2871216"/>
            <a:ext cx="256032" cy="256032"/>
          </a:xfrm>
          <a:prstGeom prst="rect">
            <a:avLst/>
          </a:prstGeom>
          <a:solidFill>
            <a:srgbClr val="1A1A1A"/>
          </a:solidFill>
          <a:ln w="127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Shape 24"/>
          <p:cNvSpPr/>
          <p:nvPr/>
        </p:nvSpPr>
        <p:spPr>
          <a:xfrm>
            <a:off x="777240" y="2871216"/>
            <a:ext cx="713232" cy="256032"/>
          </a:xfrm>
          <a:prstGeom prst="roundRect">
            <a:avLst>
              <a:gd name="adj" fmla="val 14286"/>
            </a:avLst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777240" y="2871216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3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581912" y="2852928"/>
            <a:ext cx="2816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capturé avec précision ≤ 15m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20040" y="3310128"/>
            <a:ext cx="4160520" cy="457200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Shape 28"/>
          <p:cNvSpPr/>
          <p:nvPr/>
        </p:nvSpPr>
        <p:spPr>
          <a:xfrm>
            <a:off x="411480" y="3401568"/>
            <a:ext cx="256032" cy="256032"/>
          </a:xfrm>
          <a:prstGeom prst="rect">
            <a:avLst/>
          </a:prstGeom>
          <a:solidFill>
            <a:srgbClr val="1A1A1A"/>
          </a:solidFill>
          <a:ln w="127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Shape 29"/>
          <p:cNvSpPr/>
          <p:nvPr/>
        </p:nvSpPr>
        <p:spPr>
          <a:xfrm>
            <a:off x="777240" y="3401568"/>
            <a:ext cx="713232" cy="256032"/>
          </a:xfrm>
          <a:prstGeom prst="roundRect">
            <a:avLst>
              <a:gd name="adj" fmla="val 14286"/>
            </a:avLst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Text 30"/>
          <p:cNvSpPr/>
          <p:nvPr/>
        </p:nvSpPr>
        <p:spPr>
          <a:xfrm>
            <a:off x="777240" y="3401568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3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581912" y="3383280"/>
            <a:ext cx="2816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correcte ou incorrecte — champ renseigné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20040" y="3840480"/>
            <a:ext cx="4160520" cy="457200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Shape 33"/>
          <p:cNvSpPr/>
          <p:nvPr/>
        </p:nvSpPr>
        <p:spPr>
          <a:xfrm>
            <a:off x="411480" y="3931920"/>
            <a:ext cx="256032" cy="256032"/>
          </a:xfrm>
          <a:prstGeom prst="rect">
            <a:avLst/>
          </a:prstGeom>
          <a:solidFill>
            <a:srgbClr val="1A1A1A"/>
          </a:solidFill>
          <a:ln w="127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Shape 34"/>
          <p:cNvSpPr/>
          <p:nvPr/>
        </p:nvSpPr>
        <p:spPr>
          <a:xfrm>
            <a:off x="777240" y="3931920"/>
            <a:ext cx="713232" cy="256032"/>
          </a:xfrm>
          <a:prstGeom prst="roundRect">
            <a:avLst>
              <a:gd name="adj" fmla="val 14286"/>
            </a:avLst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Text 35"/>
          <p:cNvSpPr/>
          <p:nvPr/>
        </p:nvSpPr>
        <p:spPr>
          <a:xfrm>
            <a:off x="777240" y="3931920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4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1581912" y="3913632"/>
            <a:ext cx="2816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 moins un problème (ou « Aucun ») coché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320040" y="4370832"/>
            <a:ext cx="4160520" cy="457200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0" name="Shape 38"/>
          <p:cNvSpPr/>
          <p:nvPr/>
        </p:nvSpPr>
        <p:spPr>
          <a:xfrm>
            <a:off x="411480" y="4462272"/>
            <a:ext cx="256032" cy="256032"/>
          </a:xfrm>
          <a:prstGeom prst="rect">
            <a:avLst/>
          </a:prstGeom>
          <a:solidFill>
            <a:srgbClr val="1A1A1A"/>
          </a:solidFill>
          <a:ln w="127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1" name="Shape 39"/>
          <p:cNvSpPr/>
          <p:nvPr/>
        </p:nvSpPr>
        <p:spPr>
          <a:xfrm>
            <a:off x="777240" y="4462272"/>
            <a:ext cx="713232" cy="256032"/>
          </a:xfrm>
          <a:prstGeom prst="roundRect">
            <a:avLst>
              <a:gd name="adj" fmla="val 14286"/>
            </a:avLst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2" name="Text 40"/>
          <p:cNvSpPr/>
          <p:nvPr/>
        </p:nvSpPr>
        <p:spPr>
          <a:xfrm>
            <a:off x="777240" y="4462272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4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1581912" y="4443984"/>
            <a:ext cx="2816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d'urgence sélectionné si P1 ou P2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4754880" y="658368"/>
            <a:ext cx="4160520" cy="457200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5" name="Shape 43"/>
          <p:cNvSpPr/>
          <p:nvPr/>
        </p:nvSpPr>
        <p:spPr>
          <a:xfrm>
            <a:off x="4846320" y="749808"/>
            <a:ext cx="256032" cy="256032"/>
          </a:xfrm>
          <a:prstGeom prst="rect">
            <a:avLst/>
          </a:prstGeom>
          <a:solidFill>
            <a:srgbClr val="1A1A1A"/>
          </a:solidFill>
          <a:ln w="127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6" name="Shape 44"/>
          <p:cNvSpPr/>
          <p:nvPr/>
        </p:nvSpPr>
        <p:spPr>
          <a:xfrm>
            <a:off x="5212080" y="749808"/>
            <a:ext cx="713232" cy="256032"/>
          </a:xfrm>
          <a:prstGeom prst="roundRect">
            <a:avLst>
              <a:gd name="adj" fmla="val 14286"/>
            </a:avLst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7" name="Text 45"/>
          <p:cNvSpPr/>
          <p:nvPr/>
        </p:nvSpPr>
        <p:spPr>
          <a:xfrm>
            <a:off x="5212080" y="749808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4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6016752" y="731520"/>
            <a:ext cx="2816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 libres remplies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4754880" y="1188720"/>
            <a:ext cx="4160520" cy="457200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0" name="Shape 48"/>
          <p:cNvSpPr/>
          <p:nvPr/>
        </p:nvSpPr>
        <p:spPr>
          <a:xfrm>
            <a:off x="4846320" y="1280160"/>
            <a:ext cx="256032" cy="256032"/>
          </a:xfrm>
          <a:prstGeom prst="rect">
            <a:avLst/>
          </a:prstGeom>
          <a:solidFill>
            <a:srgbClr val="1A1A1A"/>
          </a:solidFill>
          <a:ln w="127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1" name="Shape 49"/>
          <p:cNvSpPr/>
          <p:nvPr/>
        </p:nvSpPr>
        <p:spPr>
          <a:xfrm>
            <a:off x="5212080" y="1280160"/>
            <a:ext cx="713232" cy="256032"/>
          </a:xfrm>
          <a:prstGeom prst="roundRect">
            <a:avLst>
              <a:gd name="adj" fmla="val 14286"/>
            </a:avLst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2" name="Text 50"/>
          <p:cNvSpPr/>
          <p:nvPr/>
        </p:nvSpPr>
        <p:spPr>
          <a:xfrm>
            <a:off x="5212080" y="1280160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5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6016752" y="1261872"/>
            <a:ext cx="2816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 moins une action cochée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4754880" y="1719072"/>
            <a:ext cx="4160520" cy="457200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5" name="Shape 53"/>
          <p:cNvSpPr/>
          <p:nvPr/>
        </p:nvSpPr>
        <p:spPr>
          <a:xfrm>
            <a:off x="4846320" y="1810512"/>
            <a:ext cx="256032" cy="256032"/>
          </a:xfrm>
          <a:prstGeom prst="rect">
            <a:avLst/>
          </a:prstGeom>
          <a:solidFill>
            <a:srgbClr val="1A1A1A"/>
          </a:solidFill>
          <a:ln w="127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6" name="Shape 54"/>
          <p:cNvSpPr/>
          <p:nvPr/>
        </p:nvSpPr>
        <p:spPr>
          <a:xfrm>
            <a:off x="5212080" y="1810512"/>
            <a:ext cx="713232" cy="256032"/>
          </a:xfrm>
          <a:prstGeom prst="roundRect">
            <a:avLst>
              <a:gd name="adj" fmla="val 14286"/>
            </a:avLst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7" name="Text 55"/>
          <p:cNvSpPr/>
          <p:nvPr/>
        </p:nvSpPr>
        <p:spPr>
          <a:xfrm>
            <a:off x="5212080" y="1810512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5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6016752" y="1792224"/>
            <a:ext cx="2816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 de visite sélectionné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4754880" y="2249424"/>
            <a:ext cx="4160520" cy="457200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0" name="Shape 58"/>
          <p:cNvSpPr/>
          <p:nvPr/>
        </p:nvSpPr>
        <p:spPr>
          <a:xfrm>
            <a:off x="4846320" y="2340864"/>
            <a:ext cx="256032" cy="256032"/>
          </a:xfrm>
          <a:prstGeom prst="rect">
            <a:avLst/>
          </a:prstGeom>
          <a:solidFill>
            <a:srgbClr val="1A1A1A"/>
          </a:solidFill>
          <a:ln w="127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1" name="Shape 59"/>
          <p:cNvSpPr/>
          <p:nvPr/>
        </p:nvSpPr>
        <p:spPr>
          <a:xfrm>
            <a:off x="5212080" y="2340864"/>
            <a:ext cx="713232" cy="256032"/>
          </a:xfrm>
          <a:prstGeom prst="roundRect">
            <a:avLst>
              <a:gd name="adj" fmla="val 14286"/>
            </a:avLst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2" name="Text 60"/>
          <p:cNvSpPr/>
          <p:nvPr/>
        </p:nvSpPr>
        <p:spPr>
          <a:xfrm>
            <a:off x="5212080" y="2340864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5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6016752" y="2322576"/>
            <a:ext cx="2816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Orange CI saisi si escalade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4754880" y="2779776"/>
            <a:ext cx="4160520" cy="457200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5" name="Shape 63"/>
          <p:cNvSpPr/>
          <p:nvPr/>
        </p:nvSpPr>
        <p:spPr>
          <a:xfrm>
            <a:off x="4846320" y="2871216"/>
            <a:ext cx="256032" cy="256032"/>
          </a:xfrm>
          <a:prstGeom prst="rect">
            <a:avLst/>
          </a:prstGeom>
          <a:solidFill>
            <a:srgbClr val="1A1A1A"/>
          </a:solidFill>
          <a:ln w="127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6" name="Shape 64"/>
          <p:cNvSpPr/>
          <p:nvPr/>
        </p:nvSpPr>
        <p:spPr>
          <a:xfrm>
            <a:off x="5212080" y="2871216"/>
            <a:ext cx="713232" cy="256032"/>
          </a:xfrm>
          <a:prstGeom prst="roundRect">
            <a:avLst>
              <a:gd name="adj" fmla="val 14286"/>
            </a:avLst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7" name="Text 65"/>
          <p:cNvSpPr/>
          <p:nvPr/>
        </p:nvSpPr>
        <p:spPr>
          <a:xfrm>
            <a:off x="5212080" y="2871216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6</a:t>
            </a:r>
            <a:endParaRPr lang="en-US" sz="850" dirty="0"/>
          </a:p>
        </p:txBody>
      </p:sp>
      <p:sp>
        <p:nvSpPr>
          <p:cNvPr id="68" name="Text 66"/>
          <p:cNvSpPr/>
          <p:nvPr/>
        </p:nvSpPr>
        <p:spPr>
          <a:xfrm>
            <a:off x="6016752" y="2852928"/>
            <a:ext cx="2816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 minimum 1 photo (devanture) ajoutée</a:t>
            </a:r>
            <a:endParaRPr lang="en-US" sz="1050" dirty="0"/>
          </a:p>
        </p:txBody>
      </p:sp>
      <p:sp>
        <p:nvSpPr>
          <p:cNvPr id="69" name="Shape 67"/>
          <p:cNvSpPr/>
          <p:nvPr/>
        </p:nvSpPr>
        <p:spPr>
          <a:xfrm>
            <a:off x="4754880" y="3310128"/>
            <a:ext cx="4160520" cy="457200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0" name="Shape 68"/>
          <p:cNvSpPr/>
          <p:nvPr/>
        </p:nvSpPr>
        <p:spPr>
          <a:xfrm>
            <a:off x="4846320" y="3401568"/>
            <a:ext cx="256032" cy="256032"/>
          </a:xfrm>
          <a:prstGeom prst="rect">
            <a:avLst/>
          </a:prstGeom>
          <a:solidFill>
            <a:srgbClr val="1A1A1A"/>
          </a:solidFill>
          <a:ln w="127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1" name="Shape 69"/>
          <p:cNvSpPr/>
          <p:nvPr/>
        </p:nvSpPr>
        <p:spPr>
          <a:xfrm>
            <a:off x="5212080" y="3401568"/>
            <a:ext cx="713232" cy="256032"/>
          </a:xfrm>
          <a:prstGeom prst="roundRect">
            <a:avLst>
              <a:gd name="adj" fmla="val 14286"/>
            </a:avLst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2" name="Text 70"/>
          <p:cNvSpPr/>
          <p:nvPr/>
        </p:nvSpPr>
        <p:spPr>
          <a:xfrm>
            <a:off x="5212080" y="3401568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7</a:t>
            </a:r>
            <a:endParaRPr lang="en-US" sz="850" dirty="0"/>
          </a:p>
        </p:txBody>
      </p:sp>
      <p:sp>
        <p:nvSpPr>
          <p:cNvPr id="73" name="Text 71"/>
          <p:cNvSpPr/>
          <p:nvPr/>
        </p:nvSpPr>
        <p:spPr>
          <a:xfrm>
            <a:off x="6016752" y="3383280"/>
            <a:ext cx="2816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 inspecteur apposée</a:t>
            </a:r>
            <a:endParaRPr lang="en-US" sz="1050" dirty="0"/>
          </a:p>
        </p:txBody>
      </p:sp>
      <p:sp>
        <p:nvSpPr>
          <p:cNvPr id="74" name="Shape 72"/>
          <p:cNvSpPr/>
          <p:nvPr/>
        </p:nvSpPr>
        <p:spPr>
          <a:xfrm>
            <a:off x="4754880" y="3840480"/>
            <a:ext cx="4160520" cy="457200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5" name="Shape 73"/>
          <p:cNvSpPr/>
          <p:nvPr/>
        </p:nvSpPr>
        <p:spPr>
          <a:xfrm>
            <a:off x="4846320" y="3931920"/>
            <a:ext cx="256032" cy="256032"/>
          </a:xfrm>
          <a:prstGeom prst="rect">
            <a:avLst/>
          </a:prstGeom>
          <a:solidFill>
            <a:srgbClr val="1A1A1A"/>
          </a:solidFill>
          <a:ln w="127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6" name="Shape 74"/>
          <p:cNvSpPr/>
          <p:nvPr/>
        </p:nvSpPr>
        <p:spPr>
          <a:xfrm>
            <a:off x="5212080" y="3931920"/>
            <a:ext cx="713232" cy="256032"/>
          </a:xfrm>
          <a:prstGeom prst="roundRect">
            <a:avLst>
              <a:gd name="adj" fmla="val 14286"/>
            </a:avLst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7" name="Text 75"/>
          <p:cNvSpPr/>
          <p:nvPr/>
        </p:nvSpPr>
        <p:spPr>
          <a:xfrm>
            <a:off x="5212080" y="3931920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7</a:t>
            </a:r>
            <a:endParaRPr lang="en-US" sz="850" dirty="0"/>
          </a:p>
        </p:txBody>
      </p:sp>
      <p:sp>
        <p:nvSpPr>
          <p:cNvPr id="78" name="Text 76"/>
          <p:cNvSpPr/>
          <p:nvPr/>
        </p:nvSpPr>
        <p:spPr>
          <a:xfrm>
            <a:off x="6016752" y="3913632"/>
            <a:ext cx="2816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de certification cochée</a:t>
            </a:r>
            <a:endParaRPr lang="en-US" sz="1050" dirty="0"/>
          </a:p>
        </p:txBody>
      </p:sp>
      <p:sp>
        <p:nvSpPr>
          <p:cNvPr id="79" name="Shape 77"/>
          <p:cNvSpPr/>
          <p:nvPr/>
        </p:nvSpPr>
        <p:spPr>
          <a:xfrm>
            <a:off x="4754880" y="4370832"/>
            <a:ext cx="4160520" cy="457200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0" name="Shape 78"/>
          <p:cNvSpPr/>
          <p:nvPr/>
        </p:nvSpPr>
        <p:spPr>
          <a:xfrm>
            <a:off x="4846320" y="4462272"/>
            <a:ext cx="256032" cy="256032"/>
          </a:xfrm>
          <a:prstGeom prst="rect">
            <a:avLst/>
          </a:prstGeom>
          <a:solidFill>
            <a:srgbClr val="1A1A1A"/>
          </a:solidFill>
          <a:ln w="127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1" name="Shape 79"/>
          <p:cNvSpPr/>
          <p:nvPr/>
        </p:nvSpPr>
        <p:spPr>
          <a:xfrm>
            <a:off x="5212080" y="4462272"/>
            <a:ext cx="713232" cy="256032"/>
          </a:xfrm>
          <a:prstGeom prst="roundRect">
            <a:avLst>
              <a:gd name="adj" fmla="val 14286"/>
            </a:avLst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2" name="Text 80"/>
          <p:cNvSpPr/>
          <p:nvPr/>
        </p:nvSpPr>
        <p:spPr>
          <a:xfrm>
            <a:off x="5212080" y="4462272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8</a:t>
            </a:r>
            <a:endParaRPr lang="en-US" sz="850" dirty="0"/>
          </a:p>
        </p:txBody>
      </p:sp>
      <p:sp>
        <p:nvSpPr>
          <p:cNvPr id="83" name="Text 81"/>
          <p:cNvSpPr/>
          <p:nvPr/>
        </p:nvSpPr>
        <p:spPr>
          <a:xfrm>
            <a:off x="6016752" y="4443984"/>
            <a:ext cx="2816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Résumé vérifié ligne par ligne</a:t>
            </a:r>
            <a:endParaRPr lang="en-US" sz="1050" dirty="0"/>
          </a:p>
        </p:txBody>
      </p:sp>
      <p:sp>
        <p:nvSpPr>
          <p:cNvPr id="84" name="Shape 82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5" name="Shape 83"/>
          <p:cNvSpPr/>
          <p:nvPr/>
        </p:nvSpPr>
        <p:spPr>
          <a:xfrm>
            <a:off x="0" y="4864608"/>
            <a:ext cx="164592" cy="278892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6" name="Text 84"/>
          <p:cNvSpPr/>
          <p:nvPr/>
        </p:nvSpPr>
        <p:spPr>
          <a:xfrm>
            <a:off x="237744" y="4864608"/>
            <a:ext cx="749808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MAFA — Guide de Formation Inspector</a:t>
            </a:r>
            <a:endParaRPr lang="en-US" sz="900" dirty="0"/>
          </a:p>
        </p:txBody>
      </p:sp>
      <p:sp>
        <p:nvSpPr>
          <p:cNvPr id="87" name="Text 85"/>
          <p:cNvSpPr/>
          <p:nvPr/>
        </p:nvSpPr>
        <p:spPr>
          <a:xfrm>
            <a:off x="7772400" y="4864608"/>
            <a:ext cx="128016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206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F6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  CAS PRATIQUES FRÉQUENTS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" y="658368"/>
            <a:ext cx="2779776" cy="3913632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320040" y="658368"/>
            <a:ext cx="2779776" cy="512064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429768" y="658368"/>
            <a:ext cx="2560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🚶  Marchand injoignable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29768" y="1353312"/>
            <a:ext cx="256032" cy="256032"/>
          </a:xfrm>
          <a:prstGeom prst="ellipse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429768" y="13533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77240" y="1335024"/>
            <a:ext cx="22311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Renseigner nom et code depuis le système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29768" y="1956816"/>
            <a:ext cx="256032" cy="256032"/>
          </a:xfrm>
          <a:prstGeom prst="ellipse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429768" y="19568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77240" y="1938528"/>
            <a:ext cx="22311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Raison : « Injoignable (50% inactifs) »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29768" y="2560320"/>
            <a:ext cx="256032" cy="256032"/>
          </a:xfrm>
          <a:prstGeom prst="ellipse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429768" y="25603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77240" y="2542032"/>
            <a:ext cx="22311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Capturer GPS à l'emplacement présumé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29768" y="3163824"/>
            <a:ext cx="256032" cy="256032"/>
          </a:xfrm>
          <a:prstGeom prst="ellipse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429768" y="31638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77240" y="3145536"/>
            <a:ext cx="22311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Cocher « Marchand injoignable »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29768" y="3767328"/>
            <a:ext cx="256032" cy="256032"/>
          </a:xfrm>
          <a:prstGeom prst="ellipse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429768" y="37673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77240" y="3749040"/>
            <a:ext cx="22311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 : Non résolu — introuvable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64408" y="658368"/>
            <a:ext cx="2779776" cy="3913632"/>
          </a:xfrm>
          <a:prstGeom prst="rect">
            <a:avLst/>
          </a:prstGeom>
          <a:solidFill>
            <a:srgbClr val="FDEDEC"/>
          </a:solidFill>
          <a:ln w="1270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3" name="Shape 21"/>
          <p:cNvSpPr/>
          <p:nvPr/>
        </p:nvSpPr>
        <p:spPr>
          <a:xfrm>
            <a:off x="3264408" y="658368"/>
            <a:ext cx="2779776" cy="5120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3374136" y="658368"/>
            <a:ext cx="2560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 Escalade urgente P1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3374136" y="1353312"/>
            <a:ext cx="256032" cy="256032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3374136" y="13533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721608" y="1335024"/>
            <a:ext cx="22311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Cocher le problème P1 correspondant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374136" y="1956816"/>
            <a:ext cx="256032" cy="256032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3374136" y="19568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721608" y="1938528"/>
            <a:ext cx="22311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Sélectionner urgence « P1 — Urgent (&lt;2h) »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374136" y="2560320"/>
            <a:ext cx="256032" cy="256032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Text 30"/>
          <p:cNvSpPr/>
          <p:nvPr/>
        </p:nvSpPr>
        <p:spPr>
          <a:xfrm>
            <a:off x="3374136" y="25603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721608" y="2542032"/>
            <a:ext cx="22311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Contacter le superviseur immédiatement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374136" y="3163824"/>
            <a:ext cx="256032" cy="256032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Text 33"/>
          <p:cNvSpPr/>
          <p:nvPr/>
        </p:nvSpPr>
        <p:spPr>
          <a:xfrm>
            <a:off x="3374136" y="31638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721608" y="3145536"/>
            <a:ext cx="22311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ticket Orange CI — noter la référence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374136" y="3767328"/>
            <a:ext cx="256032" cy="256032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8" name="Text 36"/>
          <p:cNvSpPr/>
          <p:nvPr/>
        </p:nvSpPr>
        <p:spPr>
          <a:xfrm>
            <a:off x="3374136" y="37673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721608" y="3749040"/>
            <a:ext cx="22311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 : Compte bloqué — escalade urgente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208776" y="658368"/>
            <a:ext cx="2779776" cy="3913632"/>
          </a:xfrm>
          <a:prstGeom prst="rect">
            <a:avLst/>
          </a:prstGeom>
          <a:solidFill>
            <a:srgbClr val="EBF2FF"/>
          </a:solidFill>
          <a:ln w="12700">
            <a:solidFill>
              <a:srgbClr val="1A56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1" name="Shape 39"/>
          <p:cNvSpPr/>
          <p:nvPr/>
        </p:nvSpPr>
        <p:spPr>
          <a:xfrm>
            <a:off x="6208776" y="658368"/>
            <a:ext cx="2779776" cy="512064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2" name="Text 40"/>
          <p:cNvSpPr/>
          <p:nvPr/>
        </p:nvSpPr>
        <p:spPr>
          <a:xfrm>
            <a:off x="6318504" y="658368"/>
            <a:ext cx="2560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⚔️  Marchand utilise un concurrent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6318504" y="1353312"/>
            <a:ext cx="256032" cy="256032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4" name="Text 42"/>
          <p:cNvSpPr/>
          <p:nvPr/>
        </p:nvSpPr>
        <p:spPr>
          <a:xfrm>
            <a:off x="6318504" y="13533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665976" y="1335024"/>
            <a:ext cx="22311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Cocher « Utilise un concurrent »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318504" y="1956816"/>
            <a:ext cx="256032" cy="256032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7" name="Text 45"/>
          <p:cNvSpPr/>
          <p:nvPr/>
        </p:nvSpPr>
        <p:spPr>
          <a:xfrm>
            <a:off x="6318504" y="19568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665976" y="1938528"/>
            <a:ext cx="22311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Identifier le concurrent dans les observations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318504" y="2560320"/>
            <a:ext cx="256032" cy="256032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0" name="Text 48"/>
          <p:cNvSpPr/>
          <p:nvPr/>
        </p:nvSpPr>
        <p:spPr>
          <a:xfrm>
            <a:off x="6318504" y="25603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6665976" y="2542032"/>
            <a:ext cx="22311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Présenter les avantages Orange Money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6318504" y="3163824"/>
            <a:ext cx="256032" cy="256032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3" name="Text 51"/>
          <p:cNvSpPr/>
          <p:nvPr/>
        </p:nvSpPr>
        <p:spPr>
          <a:xfrm>
            <a:off x="6318504" y="31638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6665976" y="3145536"/>
            <a:ext cx="22311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Remonter l'info dans les notes superviseur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6" name="Shape 54"/>
          <p:cNvSpPr/>
          <p:nvPr/>
        </p:nvSpPr>
        <p:spPr>
          <a:xfrm>
            <a:off x="0" y="4864608"/>
            <a:ext cx="164592" cy="278892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7" name="Text 55"/>
          <p:cNvSpPr/>
          <p:nvPr/>
        </p:nvSpPr>
        <p:spPr>
          <a:xfrm>
            <a:off x="237744" y="4864608"/>
            <a:ext cx="749808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MAFA — Guide de Formation Inspector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7772400" y="4864608"/>
            <a:ext cx="128016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05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206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F6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  BONNES PRATIQUES &amp; RÈGLES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" y="658368"/>
            <a:ext cx="4160520" cy="1956816"/>
          </a:xfrm>
          <a:prstGeom prst="rect">
            <a:avLst/>
          </a:prstGeom>
          <a:solidFill>
            <a:srgbClr val="FFF3EB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320040" y="658368"/>
            <a:ext cx="4160520" cy="384048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429768" y="65836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Règles fondamentales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84632" y="1115568"/>
            <a:ext cx="3858768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Ne jamais soumettre sans visite physique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Capturer le GPS sur place uniquement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Les champs * sont tous obligatoires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Contacter le superviseur en cas de doute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658368"/>
            <a:ext cx="4160520" cy="1956816"/>
          </a:xfrm>
          <a:prstGeom prst="rect">
            <a:avLst/>
          </a:prstGeom>
          <a:solidFill>
            <a:srgbClr val="EBF2FF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4754880" y="658368"/>
            <a:ext cx="4160520" cy="38404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4864608" y="65836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📸  Qualité des photos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919472" y="1115568"/>
            <a:ext cx="3858768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Bonne luminosité indispensable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Nom du commerce et affichage OM visibles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Documenter tout problème constaté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Ne pas photographier sans consentement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2761488"/>
            <a:ext cx="4160520" cy="1956816"/>
          </a:xfrm>
          <a:prstGeom prst="rect">
            <a:avLst/>
          </a:prstGeom>
          <a:solidFill>
            <a:srgbClr val="F4F4F4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320040" y="2761488"/>
            <a:ext cx="4160520" cy="384048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429768" y="276148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Confidentialité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84632" y="3218688"/>
            <a:ext cx="3858768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Données marchands = strictement confidentielles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Ne pas partager hors du système MAFA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Signaler tout accès non autorisé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Respecter la politique de données Orange CI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2761488"/>
            <a:ext cx="4160520" cy="1956816"/>
          </a:xfrm>
          <a:prstGeom prst="rect">
            <a:avLst/>
          </a:prstGeom>
          <a:solidFill>
            <a:srgbClr val="E8F5ED"/>
          </a:solidFill>
          <a:ln w="1270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4754880" y="2761488"/>
            <a:ext cx="4160520" cy="384048"/>
          </a:xfrm>
          <a:prstGeom prst="rect">
            <a:avLst/>
          </a:prstGeom>
          <a:solidFill>
            <a:srgbClr val="1A7A3C"/>
          </a:solidFill>
          <a:ln w="12700">
            <a:solidFill>
              <a:srgbClr val="1A7A3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4864608" y="276148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🛠️  Problèmes techniques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919472" y="3218688"/>
            <a:ext cx="3858768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App fonctionne hors connexion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Données sauvegardées localement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En cas de bug : noter sur papier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Signaler au superviseur avec screenshot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0" y="4864608"/>
            <a:ext cx="164592" cy="278892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237744" y="4864608"/>
            <a:ext cx="749808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MAFA — Guide de Formation Inspector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772400" y="4864608"/>
            <a:ext cx="128016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07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6309360" y="0"/>
            <a:ext cx="365760" cy="5143500"/>
          </a:xfrm>
          <a:prstGeom prst="rect">
            <a:avLst/>
          </a:prstGeom>
          <a:solidFill>
            <a:srgbClr val="CC5200"/>
          </a:solidFill>
          <a:ln w="12700">
            <a:solidFill>
              <a:srgbClr val="CC52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365760" y="731520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6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Vous êtes prêt(e) !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365760" y="1536192"/>
            <a:ext cx="5669280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365760" y="1682496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réussir chaque visite :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2139696"/>
            <a:ext cx="329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86384" y="217627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Compléter les 8 étapes dans l'ordre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65760" y="2560320"/>
            <a:ext cx="329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📍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86384" y="2596896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capturé sur place avec précision ≤ 15m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65760" y="2980944"/>
            <a:ext cx="329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🔍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86384" y="30175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Diagnostiquer et documenter tous les problèmes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65760" y="3401568"/>
            <a:ext cx="329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📸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86384" y="3438144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 moins 1 photo de la devanture obligatoire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65760" y="3822192"/>
            <a:ext cx="329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✍️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86384" y="385876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Signer avant de soumettre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365760" y="4242816"/>
            <a:ext cx="329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📋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86384" y="427939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Vérifier le résumé avant envoi définitif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365760" y="4754880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Mars 2026 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1416</Words>
  <Application>Microsoft Office PowerPoint</Application>
  <PresentationFormat>Affichage à l'écran (16:9)</PresentationFormat>
  <Paragraphs>417</Paragraphs>
  <Slides>13</Slides>
  <Notes>13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7" baseType="lpstr">
      <vt:lpstr>Arial</vt:lpstr>
      <vt:lpstr>Arial Black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Guide de Formation Inspecteur MAFA</dc:title>
  <dc:subject>PptxGenJS Presentation</dc:subject>
  <dc:creator>MAFA — Orange Money CI</dc:creator>
  <cp:lastModifiedBy>Christophe Brou</cp:lastModifiedBy>
  <cp:revision>3</cp:revision>
  <dcterms:created xsi:type="dcterms:W3CDTF">2026-03-17T14:35:06Z</dcterms:created>
  <dcterms:modified xsi:type="dcterms:W3CDTF">2026-03-17T15:40:43Z</dcterms:modified>
</cp:coreProperties>
</file>