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12192000" cy="6858000"/>
  <p:embeddedFontLst>
    <p:embeddedFont>
      <p:font typeface="Tahoma"/>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7" roundtripDataSignature="AMtx7miZzpHMXUr5oAjmgFLjEkE2E7y7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Tahoma-bold.fntdata"/><Relationship Id="rId25" Type="http://schemas.openxmlformats.org/officeDocument/2006/relationships/font" Target="fonts/Tahoma-regular.fntdata"/><Relationship Id="rId27"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6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p3: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c93bde984_0_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1c93bde984_0_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7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6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6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49: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1" name="Shape 11"/>
        <p:cNvGrpSpPr/>
        <p:nvPr/>
      </p:nvGrpSpPr>
      <p:grpSpPr>
        <a:xfrm>
          <a:off x="0" y="0"/>
          <a:ext cx="0" cy="0"/>
          <a:chOff x="0" y="0"/>
          <a:chExt cx="0" cy="0"/>
        </a:xfrm>
      </p:grpSpPr>
      <p:sp>
        <p:nvSpPr>
          <p:cNvPr id="12" name="Google Shape;12;p78"/>
          <p:cNvSpPr txBox="1"/>
          <p:nvPr>
            <p:ph type="title"/>
          </p:nvPr>
        </p:nvSpPr>
        <p:spPr>
          <a:xfrm>
            <a:off x="25400" y="13174"/>
            <a:ext cx="12141200" cy="8787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300">
                <a:solidFill>
                  <a:srgbClr val="22222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7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8"/>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lvl1pPr indent="0" lvl="0"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129539" rtl="0" algn="l">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2" name="Shape 22"/>
        <p:cNvGrpSpPr/>
        <p:nvPr/>
      </p:nvGrpSpPr>
      <p:grpSpPr>
        <a:xfrm>
          <a:off x="0" y="0"/>
          <a:ext cx="0" cy="0"/>
          <a:chOff x="0" y="0"/>
          <a:chExt cx="0" cy="0"/>
        </a:xfrm>
      </p:grpSpPr>
      <p:sp>
        <p:nvSpPr>
          <p:cNvPr id="23" name="Google Shape;23;p66"/>
          <p:cNvSpPr txBox="1"/>
          <p:nvPr>
            <p:ph type="title"/>
          </p:nvPr>
        </p:nvSpPr>
        <p:spPr>
          <a:xfrm>
            <a:off x="25400" y="13174"/>
            <a:ext cx="12141200" cy="8787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300">
                <a:solidFill>
                  <a:srgbClr val="22222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6"/>
          <p:cNvSpPr txBox="1"/>
          <p:nvPr>
            <p:ph idx="1" type="body"/>
          </p:nvPr>
        </p:nvSpPr>
        <p:spPr>
          <a:xfrm>
            <a:off x="404812" y="1157823"/>
            <a:ext cx="11314430" cy="448500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6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6"/>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lvl1pPr indent="0" lvl="0"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129539" rtl="0" algn="l">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8" name="Shape 28"/>
        <p:cNvGrpSpPr/>
        <p:nvPr/>
      </p:nvGrpSpPr>
      <p:grpSpPr>
        <a:xfrm>
          <a:off x="0" y="0"/>
          <a:ext cx="0" cy="0"/>
          <a:chOff x="0" y="0"/>
          <a:chExt cx="0" cy="0"/>
        </a:xfrm>
      </p:grpSpPr>
      <p:sp>
        <p:nvSpPr>
          <p:cNvPr id="29" name="Google Shape;29;p64"/>
          <p:cNvSpPr txBox="1"/>
          <p:nvPr>
            <p:ph type="title"/>
          </p:nvPr>
        </p:nvSpPr>
        <p:spPr>
          <a:xfrm>
            <a:off x="25400" y="13174"/>
            <a:ext cx="12141200" cy="8787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300">
                <a:solidFill>
                  <a:srgbClr val="22222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4"/>
          <p:cNvSpPr txBox="1"/>
          <p:nvPr>
            <p:ph idx="1" type="body"/>
          </p:nvPr>
        </p:nvSpPr>
        <p:spPr>
          <a:xfrm>
            <a:off x="404812" y="1157823"/>
            <a:ext cx="11314430" cy="448500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6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4"/>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lvl1pPr indent="0" lvl="0"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129539" rtl="0" algn="l">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sp>
        <p:nvSpPr>
          <p:cNvPr id="35" name="Google Shape;35;p67"/>
          <p:cNvSpPr txBox="1"/>
          <p:nvPr>
            <p:ph type="title"/>
          </p:nvPr>
        </p:nvSpPr>
        <p:spPr>
          <a:xfrm>
            <a:off x="25400" y="13174"/>
            <a:ext cx="12141200" cy="8787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300">
                <a:solidFill>
                  <a:srgbClr val="22222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7"/>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67"/>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6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7"/>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lvl1pPr indent="0" lvl="0"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129539" rtl="0" algn="l">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1" name="Shape 41"/>
        <p:cNvGrpSpPr/>
        <p:nvPr/>
      </p:nvGrpSpPr>
      <p:grpSpPr>
        <a:xfrm>
          <a:off x="0" y="0"/>
          <a:ext cx="0" cy="0"/>
          <a:chOff x="0" y="0"/>
          <a:chExt cx="0" cy="0"/>
        </a:xfrm>
      </p:grpSpPr>
      <p:sp>
        <p:nvSpPr>
          <p:cNvPr id="42" name="Google Shape;42;p65"/>
          <p:cNvSpPr txBox="1"/>
          <p:nvPr>
            <p:ph type="ctrTitle"/>
          </p:nvPr>
        </p:nvSpPr>
        <p:spPr>
          <a:xfrm>
            <a:off x="4260196" y="2871724"/>
            <a:ext cx="3131184" cy="104647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300">
                <a:solidFill>
                  <a:srgbClr val="22222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5"/>
          <p:cNvSpPr txBox="1"/>
          <p:nvPr>
            <p:ph idx="1" type="subTitle"/>
          </p:nvPr>
        </p:nvSpPr>
        <p:spPr>
          <a:xfrm>
            <a:off x="3270346" y="4117133"/>
            <a:ext cx="6228080" cy="75692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5"/>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lvl1pPr indent="0" lvl="0"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129539" rtl="0" algn="l">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OBJECT 2">
    <p:spTree>
      <p:nvGrpSpPr>
        <p:cNvPr id="47" name="Shape 47"/>
        <p:cNvGrpSpPr/>
        <p:nvPr/>
      </p:nvGrpSpPr>
      <p:grpSpPr>
        <a:xfrm>
          <a:off x="0" y="0"/>
          <a:ext cx="0" cy="0"/>
          <a:chOff x="0" y="0"/>
          <a:chExt cx="0" cy="0"/>
        </a:xfrm>
      </p:grpSpPr>
      <p:sp>
        <p:nvSpPr>
          <p:cNvPr id="48" name="Google Shape;48;p63"/>
          <p:cNvSpPr txBox="1"/>
          <p:nvPr>
            <p:ph type="title"/>
          </p:nvPr>
        </p:nvSpPr>
        <p:spPr>
          <a:xfrm>
            <a:off x="25400" y="13174"/>
            <a:ext cx="12141200" cy="8787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300">
                <a:solidFill>
                  <a:srgbClr val="22222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3"/>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lvl1pPr indent="0" lvl="0"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129539" marR="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129539" rtl="0" algn="l">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7"/>
          <p:cNvSpPr txBox="1"/>
          <p:nvPr>
            <p:ph type="title"/>
          </p:nvPr>
        </p:nvSpPr>
        <p:spPr>
          <a:xfrm>
            <a:off x="25400" y="13174"/>
            <a:ext cx="12141200" cy="87873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3300" u="none" cap="none" strike="noStrike">
                <a:solidFill>
                  <a:srgbClr val="22222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7"/>
          <p:cNvSpPr txBox="1"/>
          <p:nvPr>
            <p:ph idx="1" type="body"/>
          </p:nvPr>
        </p:nvSpPr>
        <p:spPr>
          <a:xfrm>
            <a:off x="404812" y="1157823"/>
            <a:ext cx="11314430" cy="448500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7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7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77"/>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lvl1pPr indent="0" lvl="0"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129539" rtl="0" algn="l">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9" r:id="rId1"/>
  </p:sldLayoutIdLst>
  <mc:AlternateContent>
    <mc:Choice Requires="p14">
      <p:transition spd="slow" p14:dur="1200">
        <p14:flip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62"/>
          <p:cNvSpPr txBox="1"/>
          <p:nvPr>
            <p:ph type="title"/>
          </p:nvPr>
        </p:nvSpPr>
        <p:spPr>
          <a:xfrm>
            <a:off x="25400" y="13174"/>
            <a:ext cx="12141200" cy="87873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3300" u="none" cap="none" strike="noStrike">
                <a:solidFill>
                  <a:srgbClr val="22222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62"/>
          <p:cNvSpPr txBox="1"/>
          <p:nvPr>
            <p:ph idx="1" type="body"/>
          </p:nvPr>
        </p:nvSpPr>
        <p:spPr>
          <a:xfrm>
            <a:off x="404812" y="1157823"/>
            <a:ext cx="11314430" cy="448500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9" name="Google Shape;19;p6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6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62"/>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lvl1pPr indent="0" lvl="0"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129539" marR="0" rtl="0" algn="l">
              <a:lnSpc>
                <a:spcPct val="118076"/>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129539" rtl="0" algn="l">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Lst>
  <mc:AlternateContent>
    <mc:Choice Requires="p14">
      <p:transition spd="slow" p14:dur="1200">
        <p14:flip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ocs.google.com/spreadsheets/d/1LSjVqDXWUhS6-_r2MvV2OtyzrqfisFGZvf2R5gEcd_Q/edit?usp=sharing" TargetMode="External"/><Relationship Id="rId4" Type="http://schemas.openxmlformats.org/officeDocument/2006/relationships/image" Target="../media/image3.jpg"/><Relationship Id="rId5"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3.jp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10.jpg"/><Relationship Id="rId5"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5" name="Shape 55"/>
        <p:cNvGrpSpPr/>
        <p:nvPr/>
      </p:nvGrpSpPr>
      <p:grpSpPr>
        <a:xfrm>
          <a:off x="0" y="0"/>
          <a:ext cx="0" cy="0"/>
          <a:chOff x="0" y="0"/>
          <a:chExt cx="0" cy="0"/>
        </a:xfrm>
      </p:grpSpPr>
      <p:sp>
        <p:nvSpPr>
          <p:cNvPr id="56" name="Google Shape;56;p1"/>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57" name="Google Shape;57;p1"/>
          <p:cNvPicPr preferRelativeResize="0"/>
          <p:nvPr/>
        </p:nvPicPr>
        <p:blipFill rotWithShape="1">
          <a:blip r:embed="rId3">
            <a:alphaModFix amt="50000"/>
          </a:blip>
          <a:srcRect b="25000" l="0" r="0" t="0"/>
          <a:stretch/>
        </p:blipFill>
        <p:spPr>
          <a:xfrm>
            <a:off x="20" y="1"/>
            <a:ext cx="12191980" cy="6857999"/>
          </a:xfrm>
          <a:prstGeom prst="rect">
            <a:avLst/>
          </a:prstGeom>
          <a:noFill/>
          <a:ln>
            <a:noFill/>
          </a:ln>
        </p:spPr>
      </p:pic>
      <p:sp>
        <p:nvSpPr>
          <p:cNvPr id="58" name="Google Shape;58;p1"/>
          <p:cNvSpPr txBox="1"/>
          <p:nvPr>
            <p:ph type="title"/>
          </p:nvPr>
        </p:nvSpPr>
        <p:spPr>
          <a:xfrm>
            <a:off x="1524000" y="1122362"/>
            <a:ext cx="9144000" cy="2900518"/>
          </a:xfrm>
          <a:prstGeom prst="rect">
            <a:avLst/>
          </a:prstGeom>
          <a:noFill/>
          <a:ln>
            <a:noFill/>
          </a:ln>
        </p:spPr>
        <p:txBody>
          <a:bodyPr anchorCtr="0" anchor="b" bIns="45700" lIns="91425" spcFirstLastPara="1" rIns="91425" wrap="square" tIns="45700">
            <a:normAutofit/>
          </a:bodyPr>
          <a:lstStyle/>
          <a:p>
            <a:pPr indent="0" lvl="0" marL="12700" rtl="0" algn="ctr">
              <a:lnSpc>
                <a:spcPct val="90000"/>
              </a:lnSpc>
              <a:spcBef>
                <a:spcPts val="0"/>
              </a:spcBef>
              <a:spcAft>
                <a:spcPts val="0"/>
              </a:spcAft>
              <a:buSzPts val="1400"/>
              <a:buNone/>
            </a:pPr>
            <a:r>
              <a:rPr lang="fr" sz="6000">
                <a:solidFill>
                  <a:srgbClr val="FFFFFF"/>
                </a:solidFill>
                <a:latin typeface="Arial"/>
                <a:ea typeface="Arial"/>
                <a:cs typeface="Arial"/>
                <a:sym typeface="Arial"/>
              </a:rPr>
              <a:t>FORMATION DES RESPONSABLE VILLES</a:t>
            </a:r>
            <a:endParaRPr/>
          </a:p>
        </p:txBody>
      </p:sp>
      <p:sp>
        <p:nvSpPr>
          <p:cNvPr id="59" name="Google Shape;59;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600"/>
              </a:spcAft>
              <a:buClr>
                <a:srgbClr val="FFFFFF"/>
              </a:buClr>
              <a:buSzPts val="1200"/>
              <a:buNone/>
            </a:pPr>
            <a:fld id="{00000000-1234-1234-1234-123412341234}" type="slidenum">
              <a:rPr lang="fr" sz="1200">
                <a:solidFill>
                  <a:srgbClr val="FFFFFF"/>
                </a:solidFill>
                <a:latin typeface="Calibri"/>
                <a:ea typeface="Calibri"/>
                <a:cs typeface="Calibri"/>
                <a:sym typeface="Calibri"/>
              </a:rPr>
              <a:t>‹#›</a:t>
            </a:fld>
            <a:endParaRPr sz="1200">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nvSpPr>
        <p:spPr>
          <a:xfrm>
            <a:off x="305400" y="735425"/>
            <a:ext cx="6247200" cy="5914200"/>
          </a:xfrm>
          <a:prstGeom prst="rect">
            <a:avLst/>
          </a:prstGeom>
          <a:noFill/>
          <a:ln>
            <a:noFill/>
          </a:ln>
        </p:spPr>
        <p:txBody>
          <a:bodyPr anchorCtr="0" anchor="t" bIns="0" lIns="0" spcFirstLastPara="1" rIns="0" wrap="square" tIns="80625">
            <a:spAutoFit/>
          </a:bodyPr>
          <a:lstStyle/>
          <a:p>
            <a:pPr indent="0" lvl="0" marL="110490" marR="0" rtl="0" algn="ctr">
              <a:lnSpc>
                <a:spcPct val="100000"/>
              </a:lnSpc>
              <a:spcBef>
                <a:spcPts val="0"/>
              </a:spcBef>
              <a:spcAft>
                <a:spcPts val="0"/>
              </a:spcAft>
              <a:buNone/>
            </a:pPr>
            <a:r>
              <a:rPr b="0" i="0" lang="fr" sz="1100" u="none" cap="none" strike="noStrike">
                <a:solidFill>
                  <a:srgbClr val="000000"/>
                </a:solidFill>
                <a:latin typeface="Lucida Sans"/>
                <a:ea typeface="Lucida Sans"/>
                <a:cs typeface="Lucida Sans"/>
                <a:sym typeface="Lucida Sans"/>
              </a:rPr>
              <a:t>Consignes /Sécurité / Téléphone</a:t>
            </a:r>
            <a:endParaRPr b="0" i="0" sz="1100" u="none" cap="none" strike="noStrike">
              <a:solidFill>
                <a:srgbClr val="000000"/>
              </a:solidFill>
              <a:latin typeface="Lucida Sans"/>
              <a:ea typeface="Lucida Sans"/>
              <a:cs typeface="Lucida Sans"/>
              <a:sym typeface="Lucida Sans"/>
            </a:endParaRPr>
          </a:p>
          <a:p>
            <a:pPr indent="-339725" lvl="0" marL="469265" marR="0" rtl="0" algn="l">
              <a:lnSpc>
                <a:spcPct val="100000"/>
              </a:lnSpc>
              <a:spcBef>
                <a:spcPts val="705"/>
              </a:spcBef>
              <a:spcAft>
                <a:spcPts val="0"/>
              </a:spcAft>
              <a:buClr>
                <a:srgbClr val="000000"/>
              </a:buClr>
              <a:buSzPts val="1138"/>
              <a:buFont typeface="Arial"/>
              <a:buChar char="●"/>
            </a:pPr>
            <a:r>
              <a:rPr b="1" i="0" lang="fr" sz="800" u="sng" cap="none" strike="noStrike">
                <a:solidFill>
                  <a:srgbClr val="0000FF"/>
                </a:solidFill>
                <a:latin typeface="Arial"/>
                <a:ea typeface="Arial"/>
                <a:cs typeface="Arial"/>
                <a:sym typeface="Arial"/>
                <a:hlinkClick r:id="rId3">
                  <a:extLst>
                    <a:ext uri="{A12FA001-AC4F-418D-AE19-62706E023703}">
                      <ahyp:hlinkClr val="tx"/>
                    </a:ext>
                  </a:extLst>
                </a:hlinkClick>
              </a:rPr>
              <a:t>LISTE DE PRESENCE (google.com)</a:t>
            </a:r>
            <a:endParaRPr sz="1100">
              <a:latin typeface="Lucida Sans"/>
              <a:ea typeface="Lucida Sans"/>
              <a:cs typeface="Lucida Sans"/>
              <a:sym typeface="Lucida Sans"/>
            </a:endParaRPr>
          </a:p>
          <a:p>
            <a:pPr indent="0" lvl="0" marL="0" rtl="0" algn="l">
              <a:spcBef>
                <a:spcPts val="385"/>
              </a:spcBef>
              <a:spcAft>
                <a:spcPts val="0"/>
              </a:spcAft>
              <a:buNone/>
            </a:pPr>
            <a:r>
              <a:rPr lang="fr" sz="1100">
                <a:latin typeface="Lucida Sans"/>
                <a:ea typeface="Lucida Sans"/>
                <a:cs typeface="Lucida Sans"/>
                <a:sym typeface="Lucida Sans"/>
              </a:rPr>
              <a:t>I- INTRODUCTION (jour 1)</a:t>
            </a:r>
            <a:endParaRPr sz="1100">
              <a:latin typeface="Lucida Sans"/>
              <a:ea typeface="Lucida Sans"/>
              <a:cs typeface="Lucida Sans"/>
              <a:sym typeface="Lucida Sans"/>
            </a:endParaRPr>
          </a:p>
          <a:p>
            <a:pPr indent="457200" lvl="0" marL="0" rtl="0" algn="l">
              <a:spcBef>
                <a:spcPts val="385"/>
              </a:spcBef>
              <a:spcAft>
                <a:spcPts val="0"/>
              </a:spcAft>
              <a:buNone/>
            </a:pPr>
            <a:r>
              <a:rPr lang="fr" sz="1100">
                <a:latin typeface="Lucida Sans"/>
                <a:ea typeface="Lucida Sans"/>
                <a:cs typeface="Lucida Sans"/>
                <a:sym typeface="Lucida Sans"/>
              </a:rPr>
              <a:t>1- Qui sommes-nous?</a:t>
            </a:r>
            <a:endParaRPr sz="1100">
              <a:latin typeface="Lucida Sans"/>
              <a:ea typeface="Lucida Sans"/>
              <a:cs typeface="Lucida Sans"/>
              <a:sym typeface="Lucida Sans"/>
            </a:endParaRPr>
          </a:p>
          <a:p>
            <a:pPr indent="457200" lvl="0" marL="0" marR="0" rtl="0" algn="l">
              <a:lnSpc>
                <a:spcPct val="100000"/>
              </a:lnSpc>
              <a:spcBef>
                <a:spcPts val="385"/>
              </a:spcBef>
              <a:spcAft>
                <a:spcPts val="0"/>
              </a:spcAft>
              <a:buNone/>
            </a:pPr>
            <a:r>
              <a:rPr lang="fr" sz="1100">
                <a:latin typeface="Lucida Sans"/>
                <a:ea typeface="Lucida Sans"/>
                <a:cs typeface="Lucida Sans"/>
                <a:sym typeface="Lucida Sans"/>
              </a:rPr>
              <a:t>2- Management des équipes</a:t>
            </a:r>
            <a:endParaRPr sz="1100">
              <a:latin typeface="Lucida Sans"/>
              <a:ea typeface="Lucida Sans"/>
              <a:cs typeface="Lucida Sans"/>
              <a:sym typeface="Lucida Sans"/>
            </a:endParaRPr>
          </a:p>
          <a:p>
            <a:pPr indent="457200" lvl="0" marL="0" marR="0" rtl="0" algn="l">
              <a:lnSpc>
                <a:spcPct val="100000"/>
              </a:lnSpc>
              <a:spcBef>
                <a:spcPts val="385"/>
              </a:spcBef>
              <a:spcAft>
                <a:spcPts val="0"/>
              </a:spcAft>
              <a:buNone/>
            </a:pPr>
            <a:r>
              <a:rPr lang="fr" sz="1100">
                <a:latin typeface="Lucida Sans"/>
                <a:ea typeface="Lucida Sans"/>
                <a:cs typeface="Lucida Sans"/>
                <a:sym typeface="Lucida Sans"/>
              </a:rPr>
              <a:t>2.1 : </a:t>
            </a:r>
            <a:r>
              <a:rPr b="0" i="0" lang="fr" sz="1100" u="none" cap="none" strike="noStrike">
                <a:solidFill>
                  <a:srgbClr val="000000"/>
                </a:solidFill>
                <a:latin typeface="Lucida Sans"/>
                <a:ea typeface="Lucida Sans"/>
                <a:cs typeface="Lucida Sans"/>
                <a:sym typeface="Lucida Sans"/>
              </a:rPr>
              <a:t>Rôle et Responsabilité du RV</a:t>
            </a:r>
            <a:endParaRPr b="0" i="0" sz="1100" u="none" cap="none" strike="noStrike">
              <a:solidFill>
                <a:srgbClr val="000000"/>
              </a:solidFill>
              <a:latin typeface="Lucida Sans"/>
              <a:ea typeface="Lucida Sans"/>
              <a:cs typeface="Lucida Sans"/>
              <a:sym typeface="Lucida Sans"/>
            </a:endParaRPr>
          </a:p>
          <a:p>
            <a:pPr indent="457200" lvl="0" marL="457200" marR="0" rtl="0" algn="l">
              <a:lnSpc>
                <a:spcPct val="100000"/>
              </a:lnSpc>
              <a:spcBef>
                <a:spcPts val="385"/>
              </a:spcBef>
              <a:spcAft>
                <a:spcPts val="0"/>
              </a:spcAft>
              <a:buNone/>
            </a:pPr>
            <a:r>
              <a:rPr lang="fr" sz="1100">
                <a:latin typeface="Lucida Sans"/>
                <a:ea typeface="Lucida Sans"/>
                <a:cs typeface="Lucida Sans"/>
                <a:sym typeface="Lucida Sans"/>
              </a:rPr>
              <a:t>- Contrôle &amp; suivi des travaux</a:t>
            </a:r>
            <a:endParaRPr sz="1100">
              <a:latin typeface="Lucida Sans"/>
              <a:ea typeface="Lucida Sans"/>
              <a:cs typeface="Lucida Sans"/>
              <a:sym typeface="Lucida Sans"/>
            </a:endParaRPr>
          </a:p>
          <a:p>
            <a:pPr indent="457200" lvl="0" marL="457200" marR="0" rtl="0" algn="l">
              <a:lnSpc>
                <a:spcPct val="100000"/>
              </a:lnSpc>
              <a:spcBef>
                <a:spcPts val="385"/>
              </a:spcBef>
              <a:spcAft>
                <a:spcPts val="0"/>
              </a:spcAft>
              <a:buNone/>
            </a:pPr>
            <a:r>
              <a:rPr lang="fr" sz="1100">
                <a:latin typeface="Lucida Sans"/>
                <a:ea typeface="Lucida Sans"/>
                <a:cs typeface="Lucida Sans"/>
                <a:sym typeface="Lucida Sans"/>
              </a:rPr>
              <a:t>- Planification &amp; organisation du travail</a:t>
            </a:r>
            <a:endParaRPr sz="1100">
              <a:latin typeface="Lucida Sans"/>
              <a:ea typeface="Lucida Sans"/>
              <a:cs typeface="Lucida Sans"/>
              <a:sym typeface="Lucida Sans"/>
            </a:endParaRPr>
          </a:p>
          <a:p>
            <a:pPr indent="457200" lvl="0" marL="457200" marR="0" rtl="0" algn="l">
              <a:lnSpc>
                <a:spcPct val="100000"/>
              </a:lnSpc>
              <a:spcBef>
                <a:spcPts val="385"/>
              </a:spcBef>
              <a:spcAft>
                <a:spcPts val="0"/>
              </a:spcAft>
              <a:buNone/>
            </a:pPr>
            <a:r>
              <a:rPr lang="fr" sz="1100">
                <a:latin typeface="Lucida Sans"/>
                <a:ea typeface="Lucida Sans"/>
                <a:cs typeface="Lucida Sans"/>
                <a:sym typeface="Lucida Sans"/>
              </a:rPr>
              <a:t>- Gestion des Équipes</a:t>
            </a:r>
            <a:endParaRPr sz="1100">
              <a:latin typeface="Lucida Sans"/>
              <a:ea typeface="Lucida Sans"/>
              <a:cs typeface="Lucida Sans"/>
              <a:sym typeface="Lucida Sans"/>
            </a:endParaRPr>
          </a:p>
          <a:p>
            <a:pPr indent="457200" lvl="0" marL="457200" marR="0" rtl="0" algn="l">
              <a:lnSpc>
                <a:spcPct val="100000"/>
              </a:lnSpc>
              <a:spcBef>
                <a:spcPts val="385"/>
              </a:spcBef>
              <a:spcAft>
                <a:spcPts val="0"/>
              </a:spcAft>
              <a:buNone/>
            </a:pPr>
            <a:r>
              <a:rPr lang="fr" sz="1100">
                <a:latin typeface="Lucida Sans"/>
                <a:ea typeface="Lucida Sans"/>
                <a:cs typeface="Lucida Sans"/>
                <a:sym typeface="Lucida Sans"/>
              </a:rPr>
              <a:t>- Suivi des performances</a:t>
            </a:r>
            <a:endParaRPr sz="1100">
              <a:latin typeface="Lucida Sans"/>
              <a:ea typeface="Lucida Sans"/>
              <a:cs typeface="Lucida Sans"/>
              <a:sym typeface="Lucida Sans"/>
            </a:endParaRPr>
          </a:p>
          <a:p>
            <a:pPr indent="457200" lvl="0" marL="0" marR="0" rtl="0" algn="l">
              <a:lnSpc>
                <a:spcPct val="100000"/>
              </a:lnSpc>
              <a:spcBef>
                <a:spcPts val="385"/>
              </a:spcBef>
              <a:spcAft>
                <a:spcPts val="0"/>
              </a:spcAft>
              <a:buNone/>
            </a:pPr>
            <a:r>
              <a:rPr lang="fr" sz="1100">
                <a:latin typeface="Lucida Sans"/>
                <a:ea typeface="Lucida Sans"/>
                <a:cs typeface="Lucida Sans"/>
                <a:sym typeface="Lucida Sans"/>
              </a:rPr>
              <a:t>2.2 : Constitution des Contrats</a:t>
            </a:r>
            <a:endParaRPr sz="1100">
              <a:latin typeface="Lucida Sans"/>
              <a:ea typeface="Lucida Sans"/>
              <a:cs typeface="Lucida Sans"/>
              <a:sym typeface="Lucida Sans"/>
            </a:endParaRPr>
          </a:p>
          <a:p>
            <a:pPr indent="457200" lvl="0" marL="0" marR="0" rtl="0" algn="l">
              <a:lnSpc>
                <a:spcPct val="100000"/>
              </a:lnSpc>
              <a:spcBef>
                <a:spcPts val="385"/>
              </a:spcBef>
              <a:spcAft>
                <a:spcPts val="0"/>
              </a:spcAft>
              <a:buNone/>
            </a:pPr>
            <a:r>
              <a:rPr lang="fr" sz="1100">
                <a:latin typeface="Lucida Sans"/>
                <a:ea typeface="Lucida Sans"/>
                <a:cs typeface="Lucida Sans"/>
                <a:sym typeface="Lucida Sans"/>
              </a:rPr>
              <a:t>	- Contrats MAFA</a:t>
            </a:r>
            <a:endParaRPr sz="1100">
              <a:latin typeface="Lucida Sans"/>
              <a:ea typeface="Lucida Sans"/>
              <a:cs typeface="Lucida Sans"/>
              <a:sym typeface="Lucida Sans"/>
            </a:endParaRPr>
          </a:p>
          <a:p>
            <a:pPr indent="0" lvl="0" marL="0" marR="0" rtl="0" algn="l">
              <a:lnSpc>
                <a:spcPct val="100000"/>
              </a:lnSpc>
              <a:spcBef>
                <a:spcPts val="385"/>
              </a:spcBef>
              <a:spcAft>
                <a:spcPts val="0"/>
              </a:spcAft>
              <a:buNone/>
            </a:pPr>
            <a:r>
              <a:rPr lang="fr" sz="1100">
                <a:latin typeface="Lucida Sans"/>
                <a:ea typeface="Lucida Sans"/>
                <a:cs typeface="Lucida Sans"/>
                <a:sym typeface="Lucida Sans"/>
              </a:rPr>
              <a:t>		- Contrat ANStat</a:t>
            </a:r>
            <a:endParaRPr sz="1100">
              <a:latin typeface="Lucida Sans"/>
              <a:ea typeface="Lucida Sans"/>
              <a:cs typeface="Lucida Sans"/>
              <a:sym typeface="Lucida Sans"/>
            </a:endParaRPr>
          </a:p>
          <a:p>
            <a:pPr indent="0" lvl="0" marL="0" marR="0" rtl="0" algn="l">
              <a:lnSpc>
                <a:spcPct val="100000"/>
              </a:lnSpc>
              <a:spcBef>
                <a:spcPts val="385"/>
              </a:spcBef>
              <a:spcAft>
                <a:spcPts val="0"/>
              </a:spcAft>
              <a:buNone/>
            </a:pPr>
            <a:r>
              <a:rPr lang="fr" sz="1100">
                <a:latin typeface="Lucida Sans"/>
                <a:ea typeface="Lucida Sans"/>
                <a:cs typeface="Lucida Sans"/>
                <a:sym typeface="Lucida Sans"/>
              </a:rPr>
              <a:t>		- Procédure d’acheminement</a:t>
            </a:r>
            <a:endParaRPr sz="1100">
              <a:latin typeface="Lucida Sans"/>
              <a:ea typeface="Lucida Sans"/>
              <a:cs typeface="Lucida Sans"/>
              <a:sym typeface="Lucida Sans"/>
            </a:endParaRPr>
          </a:p>
          <a:p>
            <a:pPr indent="457200" lvl="0" marL="0" marR="0" rtl="0" algn="l">
              <a:lnSpc>
                <a:spcPct val="100000"/>
              </a:lnSpc>
              <a:spcBef>
                <a:spcPts val="385"/>
              </a:spcBef>
              <a:spcAft>
                <a:spcPts val="0"/>
              </a:spcAft>
              <a:buNone/>
            </a:pPr>
            <a:r>
              <a:rPr lang="fr" sz="1100">
                <a:latin typeface="Lucida Sans"/>
                <a:ea typeface="Lucida Sans"/>
                <a:cs typeface="Lucida Sans"/>
                <a:sym typeface="Lucida Sans"/>
              </a:rPr>
              <a:t>2.3 : Connaître le module de formation des Agents</a:t>
            </a:r>
            <a:endParaRPr sz="1100">
              <a:latin typeface="Lucida Sans"/>
              <a:ea typeface="Lucida Sans"/>
              <a:cs typeface="Lucida Sans"/>
              <a:sym typeface="Lucida Sans"/>
            </a:endParaRPr>
          </a:p>
          <a:p>
            <a:pPr indent="0" lvl="0" marL="0" marR="0" rtl="0" algn="l">
              <a:lnSpc>
                <a:spcPct val="100000"/>
              </a:lnSpc>
              <a:spcBef>
                <a:spcPts val="20"/>
              </a:spcBef>
              <a:spcAft>
                <a:spcPts val="0"/>
              </a:spcAft>
              <a:buNone/>
            </a:pPr>
            <a:r>
              <a:t/>
            </a:r>
            <a:endParaRPr b="0" i="0" sz="1100" u="none" cap="none" strike="noStrike">
              <a:solidFill>
                <a:srgbClr val="000000"/>
              </a:solidFill>
              <a:latin typeface="Lucida Sans"/>
              <a:ea typeface="Lucida Sans"/>
              <a:cs typeface="Lucida Sans"/>
              <a:sym typeface="Lucida Sans"/>
            </a:endParaRPr>
          </a:p>
          <a:p>
            <a:pPr indent="0" lvl="0" marL="0" marR="0" rtl="0" algn="l">
              <a:lnSpc>
                <a:spcPct val="100000"/>
              </a:lnSpc>
              <a:spcBef>
                <a:spcPts val="309"/>
              </a:spcBef>
              <a:spcAft>
                <a:spcPts val="0"/>
              </a:spcAft>
              <a:buNone/>
            </a:pPr>
            <a:r>
              <a:rPr lang="fr" sz="1100">
                <a:latin typeface="Lucida Sans"/>
                <a:ea typeface="Lucida Sans"/>
                <a:cs typeface="Lucida Sans"/>
                <a:sym typeface="Lucida Sans"/>
              </a:rPr>
              <a:t>II- </a:t>
            </a:r>
            <a:r>
              <a:rPr b="0" i="0" lang="fr" sz="1100" u="none" cap="none" strike="noStrike">
                <a:solidFill>
                  <a:srgbClr val="000000"/>
                </a:solidFill>
                <a:latin typeface="Lucida Sans"/>
                <a:ea typeface="Lucida Sans"/>
                <a:cs typeface="Lucida Sans"/>
                <a:sym typeface="Lucida Sans"/>
              </a:rPr>
              <a:t>O</a:t>
            </a:r>
            <a:r>
              <a:rPr lang="fr" sz="1100">
                <a:latin typeface="Lucida Sans"/>
                <a:ea typeface="Lucida Sans"/>
                <a:cs typeface="Lucida Sans"/>
                <a:sym typeface="Lucida Sans"/>
              </a:rPr>
              <a:t>UTILS &amp; </a:t>
            </a:r>
            <a:r>
              <a:rPr lang="fr" sz="1100">
                <a:latin typeface="Lucida Sans"/>
                <a:ea typeface="Lucida Sans"/>
                <a:cs typeface="Lucida Sans"/>
                <a:sym typeface="Lucida Sans"/>
              </a:rPr>
              <a:t>SYSTÈMES (jour 2)</a:t>
            </a:r>
            <a:endParaRPr sz="1100">
              <a:latin typeface="Lucida Sans"/>
              <a:ea typeface="Lucida Sans"/>
              <a:cs typeface="Lucida Sans"/>
              <a:sym typeface="Lucida Sans"/>
            </a:endParaRPr>
          </a:p>
          <a:p>
            <a:pPr indent="457200" lvl="0" marL="0" marR="0" rtl="0" algn="l">
              <a:lnSpc>
                <a:spcPct val="100000"/>
              </a:lnSpc>
              <a:spcBef>
                <a:spcPts val="309"/>
              </a:spcBef>
              <a:spcAft>
                <a:spcPts val="0"/>
              </a:spcAft>
              <a:buNone/>
            </a:pPr>
            <a:r>
              <a:rPr lang="fr" sz="1100">
                <a:latin typeface="Lucida Sans"/>
                <a:ea typeface="Lucida Sans"/>
                <a:cs typeface="Lucida Sans"/>
                <a:sym typeface="Lucida Sans"/>
              </a:rPr>
              <a:t>1- </a:t>
            </a:r>
            <a:r>
              <a:rPr b="0" i="0" lang="fr" sz="1100" u="none" cap="none" strike="noStrike">
                <a:solidFill>
                  <a:srgbClr val="000000"/>
                </a:solidFill>
                <a:latin typeface="Lucida Sans"/>
                <a:ea typeface="Lucida Sans"/>
                <a:cs typeface="Lucida Sans"/>
                <a:sym typeface="Lucida Sans"/>
              </a:rPr>
              <a:t>Connaissances des logiciels interne</a:t>
            </a:r>
            <a:endParaRPr b="0" i="0" sz="1100" u="none" cap="none" strike="noStrike">
              <a:solidFill>
                <a:srgbClr val="000000"/>
              </a:solidFill>
              <a:latin typeface="Lucida Sans"/>
              <a:ea typeface="Lucida Sans"/>
              <a:cs typeface="Lucida Sans"/>
              <a:sym typeface="Lucida Sans"/>
            </a:endParaRPr>
          </a:p>
          <a:p>
            <a:pPr indent="457200" lvl="0" marL="0" marR="0" rtl="0" algn="l">
              <a:lnSpc>
                <a:spcPct val="100000"/>
              </a:lnSpc>
              <a:spcBef>
                <a:spcPts val="309"/>
              </a:spcBef>
              <a:spcAft>
                <a:spcPts val="0"/>
              </a:spcAft>
              <a:buNone/>
            </a:pPr>
            <a:r>
              <a:rPr lang="fr" sz="1100">
                <a:latin typeface="Lucida Sans"/>
                <a:ea typeface="Lucida Sans"/>
                <a:cs typeface="Lucida Sans"/>
                <a:sym typeface="Lucida Sans"/>
              </a:rPr>
              <a:t>	1.1 : Connaissances des logiciels et </a:t>
            </a:r>
            <a:r>
              <a:rPr lang="fr" sz="1100">
                <a:latin typeface="Lucida Sans"/>
                <a:ea typeface="Lucida Sans"/>
                <a:cs typeface="Lucida Sans"/>
                <a:sym typeface="Lucida Sans"/>
              </a:rPr>
              <a:t>utilisation</a:t>
            </a:r>
            <a:r>
              <a:rPr lang="fr" sz="1100">
                <a:latin typeface="Lucida Sans"/>
                <a:ea typeface="Lucida Sans"/>
                <a:cs typeface="Lucida Sans"/>
                <a:sym typeface="Lucida Sans"/>
              </a:rPr>
              <a:t> des dashboard</a:t>
            </a:r>
            <a:endParaRPr sz="1100">
              <a:latin typeface="Lucida Sans"/>
              <a:ea typeface="Lucida Sans"/>
              <a:cs typeface="Lucida Sans"/>
              <a:sym typeface="Lucida Sans"/>
            </a:endParaRPr>
          </a:p>
          <a:p>
            <a:pPr indent="457200" lvl="0" marL="914400" marR="0" rtl="0" algn="l">
              <a:lnSpc>
                <a:spcPct val="100000"/>
              </a:lnSpc>
              <a:spcBef>
                <a:spcPts val="20"/>
              </a:spcBef>
              <a:spcAft>
                <a:spcPts val="0"/>
              </a:spcAft>
              <a:buNone/>
            </a:pPr>
            <a:r>
              <a:rPr lang="fr" sz="1100">
                <a:latin typeface="Lucida Sans"/>
                <a:ea typeface="Lucida Sans"/>
                <a:cs typeface="Lucida Sans"/>
                <a:sym typeface="Lucida Sans"/>
              </a:rPr>
              <a:t>- </a:t>
            </a:r>
            <a:r>
              <a:rPr b="0" i="0" lang="fr" sz="1100" u="none" cap="none" strike="noStrike">
                <a:solidFill>
                  <a:srgbClr val="000000"/>
                </a:solidFill>
                <a:latin typeface="Lucida Sans"/>
                <a:ea typeface="Lucida Sans"/>
                <a:cs typeface="Lucida Sans"/>
                <a:sym typeface="Lucida Sans"/>
              </a:rPr>
              <a:t>Créer des accès (BACKEND)</a:t>
            </a:r>
            <a:endParaRPr b="0" i="0" sz="1100" u="none" cap="none" strike="noStrike">
              <a:solidFill>
                <a:srgbClr val="000000"/>
              </a:solidFill>
              <a:latin typeface="Lucida Sans"/>
              <a:ea typeface="Lucida Sans"/>
              <a:cs typeface="Lucida Sans"/>
              <a:sym typeface="Lucida Sans"/>
            </a:endParaRPr>
          </a:p>
          <a:p>
            <a:pPr indent="457200" lvl="0" marL="914400" marR="0" rtl="0" algn="l">
              <a:lnSpc>
                <a:spcPct val="100000"/>
              </a:lnSpc>
              <a:spcBef>
                <a:spcPts val="20"/>
              </a:spcBef>
              <a:spcAft>
                <a:spcPts val="0"/>
              </a:spcAft>
              <a:buNone/>
            </a:pPr>
            <a:r>
              <a:rPr lang="fr" sz="1100">
                <a:latin typeface="Lucida Sans"/>
                <a:ea typeface="Lucida Sans"/>
                <a:cs typeface="Lucida Sans"/>
                <a:sym typeface="Lucida Sans"/>
              </a:rPr>
              <a:t>- Faire requête (BI)</a:t>
            </a:r>
            <a:endParaRPr sz="1100">
              <a:latin typeface="Lucida Sans"/>
              <a:ea typeface="Lucida Sans"/>
              <a:cs typeface="Lucida Sans"/>
              <a:sym typeface="Lucida Sans"/>
            </a:endParaRPr>
          </a:p>
          <a:p>
            <a:pPr indent="457200" lvl="0" marL="914400" marR="0" rtl="0" algn="l">
              <a:lnSpc>
                <a:spcPct val="100000"/>
              </a:lnSpc>
              <a:spcBef>
                <a:spcPts val="20"/>
              </a:spcBef>
              <a:spcAft>
                <a:spcPts val="0"/>
              </a:spcAft>
              <a:buNone/>
            </a:pPr>
            <a:r>
              <a:rPr lang="fr" sz="1100">
                <a:latin typeface="Lucida Sans"/>
                <a:ea typeface="Lucida Sans"/>
                <a:cs typeface="Lucida Sans"/>
                <a:sym typeface="Lucida Sans"/>
              </a:rPr>
              <a:t>- Cartographie (Google Earth)</a:t>
            </a:r>
            <a:endParaRPr sz="1100">
              <a:latin typeface="Lucida Sans"/>
              <a:ea typeface="Lucida Sans"/>
              <a:cs typeface="Lucida Sans"/>
              <a:sym typeface="Lucida Sans"/>
            </a:endParaRPr>
          </a:p>
          <a:p>
            <a:pPr indent="0" lvl="0" marL="0" marR="0" rtl="0" algn="l">
              <a:lnSpc>
                <a:spcPct val="100000"/>
              </a:lnSpc>
              <a:spcBef>
                <a:spcPts val="20"/>
              </a:spcBef>
              <a:spcAft>
                <a:spcPts val="0"/>
              </a:spcAft>
              <a:buNone/>
            </a:pPr>
            <a:r>
              <a:t/>
            </a:r>
            <a:endParaRPr sz="1100">
              <a:latin typeface="Lucida Sans"/>
              <a:ea typeface="Lucida Sans"/>
              <a:cs typeface="Lucida Sans"/>
              <a:sym typeface="Lucida Sans"/>
            </a:endParaRPr>
          </a:p>
          <a:p>
            <a:pPr indent="0" lvl="0" marL="0" marR="0" rtl="0" algn="l">
              <a:lnSpc>
                <a:spcPct val="100000"/>
              </a:lnSpc>
              <a:spcBef>
                <a:spcPts val="20"/>
              </a:spcBef>
              <a:spcAft>
                <a:spcPts val="0"/>
              </a:spcAft>
              <a:buNone/>
            </a:pPr>
            <a:r>
              <a:rPr lang="fr" sz="1100">
                <a:latin typeface="Lucida Sans"/>
                <a:ea typeface="Lucida Sans"/>
                <a:cs typeface="Lucida Sans"/>
                <a:sym typeface="Lucida Sans"/>
              </a:rPr>
              <a:t>III- LIVRABLES A TRANSMETTRE</a:t>
            </a:r>
            <a:endParaRPr sz="1100">
              <a:latin typeface="Lucida Sans"/>
              <a:ea typeface="Lucida Sans"/>
              <a:cs typeface="Lucida Sans"/>
              <a:sym typeface="Lucida Sans"/>
            </a:endParaRPr>
          </a:p>
          <a:p>
            <a:pPr indent="0" lvl="0" marL="0" marR="0" rtl="0" algn="l">
              <a:lnSpc>
                <a:spcPct val="100000"/>
              </a:lnSpc>
              <a:spcBef>
                <a:spcPts val="20"/>
              </a:spcBef>
              <a:spcAft>
                <a:spcPts val="0"/>
              </a:spcAft>
              <a:buNone/>
            </a:pPr>
            <a:r>
              <a:rPr lang="fr" sz="1100">
                <a:latin typeface="Lucida Sans"/>
                <a:ea typeface="Lucida Sans"/>
                <a:cs typeface="Lucida Sans"/>
                <a:sym typeface="Lucida Sans"/>
              </a:rPr>
              <a:t>		1- Fiche de présence</a:t>
            </a:r>
            <a:endParaRPr sz="1100">
              <a:latin typeface="Lucida Sans"/>
              <a:ea typeface="Lucida Sans"/>
              <a:cs typeface="Lucida Sans"/>
              <a:sym typeface="Lucida Sans"/>
            </a:endParaRPr>
          </a:p>
          <a:p>
            <a:pPr indent="0" lvl="0" marL="0" marR="0" rtl="0" algn="l">
              <a:lnSpc>
                <a:spcPct val="100000"/>
              </a:lnSpc>
              <a:spcBef>
                <a:spcPts val="20"/>
              </a:spcBef>
              <a:spcAft>
                <a:spcPts val="0"/>
              </a:spcAft>
              <a:buNone/>
            </a:pPr>
            <a:r>
              <a:rPr lang="fr" sz="1100">
                <a:latin typeface="Lucida Sans"/>
                <a:ea typeface="Lucida Sans"/>
                <a:cs typeface="Lucida Sans"/>
                <a:sym typeface="Lucida Sans"/>
              </a:rPr>
              <a:t>		2- Gestion de stock</a:t>
            </a:r>
            <a:r>
              <a:rPr lang="fr" sz="1100">
                <a:latin typeface="Lucida Sans"/>
                <a:ea typeface="Lucida Sans"/>
                <a:cs typeface="Lucida Sans"/>
                <a:sym typeface="Lucida Sans"/>
              </a:rPr>
              <a:t> &amp; Suivi du matériel(FAMOCO-CARTE-TABLETTES etc…)</a:t>
            </a:r>
            <a:endParaRPr sz="1100">
              <a:latin typeface="Lucida Sans"/>
              <a:ea typeface="Lucida Sans"/>
              <a:cs typeface="Lucida Sans"/>
              <a:sym typeface="Lucida Sans"/>
            </a:endParaRPr>
          </a:p>
          <a:p>
            <a:pPr indent="0" lvl="0" marL="0" marR="0" rtl="0" algn="l">
              <a:lnSpc>
                <a:spcPct val="100000"/>
              </a:lnSpc>
              <a:spcBef>
                <a:spcPts val="20"/>
              </a:spcBef>
              <a:spcAft>
                <a:spcPts val="0"/>
              </a:spcAft>
              <a:buNone/>
            </a:pPr>
            <a:r>
              <a:rPr lang="fr" sz="1100">
                <a:latin typeface="Lucida Sans"/>
                <a:ea typeface="Lucida Sans"/>
                <a:cs typeface="Lucida Sans"/>
                <a:sym typeface="Lucida Sans"/>
              </a:rPr>
              <a:t>		3- Rapport des CE</a:t>
            </a:r>
            <a:endParaRPr sz="1100">
              <a:latin typeface="Lucida Sans"/>
              <a:ea typeface="Lucida Sans"/>
              <a:cs typeface="Lucida Sans"/>
              <a:sym typeface="Lucida Sans"/>
            </a:endParaRPr>
          </a:p>
          <a:p>
            <a:pPr indent="0" lvl="0" marL="0" marR="0" rtl="0" algn="l">
              <a:lnSpc>
                <a:spcPct val="100000"/>
              </a:lnSpc>
              <a:spcBef>
                <a:spcPts val="309"/>
              </a:spcBef>
              <a:spcAft>
                <a:spcPts val="0"/>
              </a:spcAft>
              <a:buNone/>
            </a:pPr>
            <a:r>
              <a:rPr lang="fr" sz="1100">
                <a:latin typeface="Lucida Sans"/>
                <a:ea typeface="Lucida Sans"/>
                <a:cs typeface="Lucida Sans"/>
                <a:sym typeface="Lucida Sans"/>
              </a:rPr>
              <a:t>IV- </a:t>
            </a:r>
            <a:r>
              <a:rPr b="0" i="0" lang="fr" sz="1100" u="none" cap="none" strike="noStrike">
                <a:solidFill>
                  <a:srgbClr val="000000"/>
                </a:solidFill>
                <a:latin typeface="Lucida Sans"/>
                <a:ea typeface="Lucida Sans"/>
                <a:cs typeface="Lucida Sans"/>
                <a:sym typeface="Lucida Sans"/>
              </a:rPr>
              <a:t> C</a:t>
            </a:r>
            <a:r>
              <a:rPr lang="fr" sz="1100">
                <a:latin typeface="Lucida Sans"/>
                <a:ea typeface="Lucida Sans"/>
                <a:cs typeface="Lucida Sans"/>
                <a:sym typeface="Lucida Sans"/>
              </a:rPr>
              <a:t>ONCLUSION</a:t>
            </a:r>
            <a:endParaRPr b="0" i="0" sz="1100" u="none" cap="none" strike="noStrike">
              <a:solidFill>
                <a:srgbClr val="000000"/>
              </a:solidFill>
              <a:latin typeface="Lucida Sans"/>
              <a:ea typeface="Lucida Sans"/>
              <a:cs typeface="Lucida Sans"/>
              <a:sym typeface="Lucida Sans"/>
            </a:endParaRPr>
          </a:p>
          <a:p>
            <a:pPr indent="0" lvl="0" marL="0" marR="0" rtl="0" algn="l">
              <a:lnSpc>
                <a:spcPct val="100000"/>
              </a:lnSpc>
              <a:spcBef>
                <a:spcPts val="20"/>
              </a:spcBef>
              <a:spcAft>
                <a:spcPts val="0"/>
              </a:spcAft>
              <a:buNone/>
            </a:pPr>
            <a:r>
              <a:t/>
            </a:r>
            <a:endParaRPr b="0" i="0" sz="1100" u="none" cap="none" strike="noStrike">
              <a:solidFill>
                <a:srgbClr val="000000"/>
              </a:solidFill>
              <a:latin typeface="Lucida Sans"/>
              <a:ea typeface="Lucida Sans"/>
              <a:cs typeface="Lucida Sans"/>
              <a:sym typeface="Lucida Sans"/>
            </a:endParaRPr>
          </a:p>
        </p:txBody>
      </p:sp>
      <p:sp>
        <p:nvSpPr>
          <p:cNvPr id="65" name="Google Shape;65;p2"/>
          <p:cNvSpPr txBox="1"/>
          <p:nvPr>
            <p:ph type="title"/>
          </p:nvPr>
        </p:nvSpPr>
        <p:spPr>
          <a:xfrm>
            <a:off x="25350" y="-19976"/>
            <a:ext cx="12141300" cy="755400"/>
          </a:xfrm>
          <a:prstGeom prst="rect">
            <a:avLst/>
          </a:prstGeom>
          <a:noFill/>
          <a:ln>
            <a:noFill/>
          </a:ln>
        </p:spPr>
        <p:txBody>
          <a:bodyPr anchorCtr="0" anchor="t" bIns="0" lIns="0" spcFirstLastPara="1" rIns="0" wrap="square" tIns="77225">
            <a:spAutoFit/>
          </a:bodyPr>
          <a:lstStyle/>
          <a:p>
            <a:pPr indent="0" lvl="0" marL="395605" rtl="0" algn="l">
              <a:lnSpc>
                <a:spcPct val="100000"/>
              </a:lnSpc>
              <a:spcBef>
                <a:spcPts val="100"/>
              </a:spcBef>
              <a:spcAft>
                <a:spcPts val="0"/>
              </a:spcAft>
              <a:buSzPts val="1400"/>
              <a:buNone/>
            </a:pPr>
            <a:r>
              <a:rPr lang="fr" sz="4400">
                <a:solidFill>
                  <a:srgbClr val="990000"/>
                </a:solidFill>
              </a:rPr>
              <a:t>Agenda</a:t>
            </a:r>
            <a:endParaRPr sz="4400"/>
          </a:p>
        </p:txBody>
      </p:sp>
      <p:pic>
        <p:nvPicPr>
          <p:cNvPr id="66" name="Google Shape;66;p2"/>
          <p:cNvPicPr preferRelativeResize="0"/>
          <p:nvPr/>
        </p:nvPicPr>
        <p:blipFill rotWithShape="1">
          <a:blip r:embed="rId4">
            <a:alphaModFix/>
          </a:blip>
          <a:srcRect b="0" l="-1790" r="1789" t="0"/>
          <a:stretch/>
        </p:blipFill>
        <p:spPr>
          <a:xfrm>
            <a:off x="8582281" y="1803471"/>
            <a:ext cx="3251036" cy="3251051"/>
          </a:xfrm>
          <a:prstGeom prst="rect">
            <a:avLst/>
          </a:prstGeom>
          <a:noFill/>
          <a:ln>
            <a:noFill/>
          </a:ln>
        </p:spPr>
      </p:pic>
      <p:pic>
        <p:nvPicPr>
          <p:cNvPr id="67" name="Google Shape;67;p2"/>
          <p:cNvPicPr preferRelativeResize="0"/>
          <p:nvPr/>
        </p:nvPicPr>
        <p:blipFill rotWithShape="1">
          <a:blip r:embed="rId5">
            <a:alphaModFix/>
          </a:blip>
          <a:srcRect b="0" l="0" r="0" t="0"/>
          <a:stretch/>
        </p:blipFill>
        <p:spPr>
          <a:xfrm>
            <a:off x="9553099" y="1"/>
            <a:ext cx="2553283" cy="715443"/>
          </a:xfrm>
          <a:prstGeom prst="rect">
            <a:avLst/>
          </a:prstGeom>
          <a:noFill/>
          <a:ln>
            <a:noFill/>
          </a:ln>
        </p:spPr>
      </p:pic>
      <p:sp>
        <p:nvSpPr>
          <p:cNvPr id="68" name="Google Shape;68;p2"/>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129539" rtl="0" algn="l">
              <a:lnSpc>
                <a:spcPct val="118076"/>
              </a:lnSpc>
              <a:spcBef>
                <a:spcPts val="0"/>
              </a:spcBef>
              <a:spcAft>
                <a:spcPts val="0"/>
              </a:spcAft>
              <a:buSzPts val="1300"/>
              <a:buNone/>
            </a:pPr>
            <a:fld id="{00000000-1234-1234-1234-123412341234}" type="slidenum">
              <a:rPr lang="f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68"/>
          <p:cNvSpPr txBox="1"/>
          <p:nvPr>
            <p:ph type="title"/>
          </p:nvPr>
        </p:nvSpPr>
        <p:spPr>
          <a:xfrm>
            <a:off x="78526" y="715444"/>
            <a:ext cx="6233652"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INTRODUCTION</a:t>
            </a:r>
            <a:endParaRPr/>
          </a:p>
        </p:txBody>
      </p:sp>
      <p:pic>
        <p:nvPicPr>
          <p:cNvPr id="74" name="Google Shape;74;p68"/>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75" name="Google Shape;75;p68"/>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76" name="Google Shape;76;p68"/>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
        <p:nvSpPr>
          <p:cNvPr id="77" name="Google Shape;77;p68"/>
          <p:cNvSpPr txBox="1"/>
          <p:nvPr/>
        </p:nvSpPr>
        <p:spPr>
          <a:xfrm>
            <a:off x="938847" y="3059549"/>
            <a:ext cx="10314300" cy="73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Ce module vise à fournir aux Responsables de Villes les compétences nécessaires pour gérer efficacement les opérations, du suivi du matériel aux requêtes de données. L'accent sera mis sur l'importance de la création d'accès appropriés et sur le suivi des performances pour assurer le bon déroulement des activités terrain.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 name="Shape 81"/>
        <p:cNvGrpSpPr/>
        <p:nvPr/>
      </p:nvGrpSpPr>
      <p:grpSpPr>
        <a:xfrm>
          <a:off x="0" y="0"/>
          <a:ext cx="0" cy="0"/>
          <a:chOff x="0" y="0"/>
          <a:chExt cx="0" cy="0"/>
        </a:xfrm>
      </p:grpSpPr>
      <p:sp>
        <p:nvSpPr>
          <p:cNvPr id="82" name="Google Shape;82;p3"/>
          <p:cNvSpPr txBox="1"/>
          <p:nvPr>
            <p:ph type="title"/>
          </p:nvPr>
        </p:nvSpPr>
        <p:spPr>
          <a:xfrm>
            <a:off x="25400" y="237631"/>
            <a:ext cx="12141200" cy="878739"/>
          </a:xfrm>
          <a:prstGeom prst="rect">
            <a:avLst/>
          </a:prstGeom>
          <a:noFill/>
          <a:ln>
            <a:noFill/>
          </a:ln>
        </p:spPr>
        <p:txBody>
          <a:bodyPr anchorCtr="0" anchor="t" bIns="0" lIns="0" spcFirstLastPara="1" rIns="0" wrap="square" tIns="149750">
            <a:spAutoFit/>
          </a:bodyPr>
          <a:lstStyle/>
          <a:p>
            <a:pPr indent="0" lvl="0" marL="212090" rtl="0" algn="l">
              <a:lnSpc>
                <a:spcPct val="100000"/>
              </a:lnSpc>
              <a:spcBef>
                <a:spcPts val="0"/>
              </a:spcBef>
              <a:spcAft>
                <a:spcPts val="0"/>
              </a:spcAft>
              <a:buSzPts val="1400"/>
              <a:buNone/>
            </a:pPr>
            <a:r>
              <a:rPr lang="fr" sz="4700">
                <a:solidFill>
                  <a:srgbClr val="990000"/>
                </a:solidFill>
              </a:rPr>
              <a:t>Qui sommes-nous</a:t>
            </a:r>
            <a:endParaRPr sz="4700"/>
          </a:p>
        </p:txBody>
      </p:sp>
      <p:sp>
        <p:nvSpPr>
          <p:cNvPr id="83" name="Google Shape;83;p3"/>
          <p:cNvSpPr txBox="1"/>
          <p:nvPr/>
        </p:nvSpPr>
        <p:spPr>
          <a:xfrm>
            <a:off x="326648" y="1623271"/>
            <a:ext cx="10380345" cy="1182370"/>
          </a:xfrm>
          <a:prstGeom prst="rect">
            <a:avLst/>
          </a:prstGeom>
          <a:solidFill>
            <a:srgbClr val="990000"/>
          </a:solidFill>
          <a:ln>
            <a:noFill/>
          </a:ln>
        </p:spPr>
        <p:txBody>
          <a:bodyPr anchorCtr="0" anchor="t" bIns="0" lIns="0" spcFirstLastPara="1" rIns="0" wrap="square" tIns="292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279400" marR="349885" rtl="0" algn="l">
              <a:lnSpc>
                <a:spcPct val="100000"/>
              </a:lnSpc>
              <a:spcBef>
                <a:spcPts val="0"/>
              </a:spcBef>
              <a:spcAft>
                <a:spcPts val="0"/>
              </a:spcAft>
              <a:buClr>
                <a:srgbClr val="000000"/>
              </a:buClr>
              <a:buSzPts val="1400"/>
              <a:buFont typeface="Arial"/>
              <a:buNone/>
            </a:pPr>
            <a:r>
              <a:rPr b="0" i="0" lang="fr" sz="1400" u="none" cap="none" strike="noStrike">
                <a:solidFill>
                  <a:srgbClr val="FFFFFF"/>
                </a:solidFill>
                <a:latin typeface="Arial"/>
                <a:ea typeface="Arial"/>
                <a:cs typeface="Arial"/>
                <a:sym typeface="Arial"/>
              </a:rPr>
              <a:t>Nous sommes une entreprise mandatée par le </a:t>
            </a:r>
            <a:r>
              <a:rPr b="1" i="0" lang="fr" sz="1400" u="none" cap="none" strike="noStrike">
                <a:solidFill>
                  <a:srgbClr val="FFFFFF"/>
                </a:solidFill>
                <a:latin typeface="Arial"/>
                <a:ea typeface="Arial"/>
                <a:cs typeface="Arial"/>
                <a:sym typeface="Arial"/>
              </a:rPr>
              <a:t>Ministère du Commerce et de l’Industrie</a:t>
            </a:r>
            <a:r>
              <a:rPr b="0" i="0" lang="fr" sz="1400" u="none" cap="none" strike="noStrike">
                <a:solidFill>
                  <a:srgbClr val="FFFFFF"/>
                </a:solidFill>
                <a:latin typeface="Arial"/>
                <a:ea typeface="Arial"/>
                <a:cs typeface="Arial"/>
                <a:sym typeface="Arial"/>
              </a:rPr>
              <a:t>, pour procéder à l'identification et l’enrôlement des entreprenants du secteur informel dans 30 grandes villes du territoire national.</a:t>
            </a:r>
            <a:endParaRPr b="0" i="0" sz="1400" u="none" cap="none" strike="noStrike">
              <a:solidFill>
                <a:srgbClr val="000000"/>
              </a:solidFill>
              <a:latin typeface="Arial"/>
              <a:ea typeface="Arial"/>
              <a:cs typeface="Arial"/>
              <a:sym typeface="Arial"/>
            </a:endParaRPr>
          </a:p>
          <a:p>
            <a:pPr indent="0" lvl="0" marL="279400" marR="0" rtl="0" algn="l">
              <a:lnSpc>
                <a:spcPct val="100000"/>
              </a:lnSpc>
              <a:spcBef>
                <a:spcPts val="0"/>
              </a:spcBef>
              <a:spcAft>
                <a:spcPts val="0"/>
              </a:spcAft>
              <a:buClr>
                <a:srgbClr val="000000"/>
              </a:buClr>
              <a:buSzPts val="1400"/>
              <a:buFont typeface="Arial"/>
              <a:buNone/>
            </a:pPr>
            <a:r>
              <a:rPr b="0" i="0" lang="fr" sz="1400" u="none" cap="none" strike="noStrike">
                <a:solidFill>
                  <a:srgbClr val="FFFFFF"/>
                </a:solidFill>
                <a:latin typeface="Arial"/>
                <a:ea typeface="Arial"/>
                <a:cs typeface="Arial"/>
                <a:sym typeface="Arial"/>
              </a:rPr>
              <a:t>Le projet s’appelle ID 30.</a:t>
            </a:r>
            <a:endParaRPr b="0" i="0" sz="1400" u="none" cap="none" strike="noStrike">
              <a:solidFill>
                <a:srgbClr val="000000"/>
              </a:solidFill>
              <a:latin typeface="Arial"/>
              <a:ea typeface="Arial"/>
              <a:cs typeface="Arial"/>
              <a:sym typeface="Arial"/>
            </a:endParaRPr>
          </a:p>
        </p:txBody>
      </p:sp>
      <p:sp>
        <p:nvSpPr>
          <p:cNvPr id="84" name="Google Shape;84;p3"/>
          <p:cNvSpPr txBox="1"/>
          <p:nvPr/>
        </p:nvSpPr>
        <p:spPr>
          <a:xfrm>
            <a:off x="326651" y="3504300"/>
            <a:ext cx="10314300" cy="443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fr" sz="1400" u="none" cap="none" strike="noStrike">
                <a:solidFill>
                  <a:srgbClr val="000000"/>
                </a:solidFill>
                <a:latin typeface="Arial"/>
                <a:ea typeface="Arial"/>
                <a:cs typeface="Arial"/>
                <a:sym typeface="Arial"/>
              </a:rPr>
              <a:t>C’est pour cela que l’on a fait appel à VOUS, pour les </a:t>
            </a:r>
            <a:r>
              <a:rPr b="1" i="0" lang="fr" sz="1400" u="none" cap="none" strike="noStrike">
                <a:solidFill>
                  <a:srgbClr val="000000"/>
                </a:solidFill>
                <a:latin typeface="Arial"/>
                <a:ea typeface="Arial"/>
                <a:cs typeface="Arial"/>
                <a:sym typeface="Arial"/>
              </a:rPr>
              <a:t>identifier et les enrôler avec en charg</a:t>
            </a:r>
            <a:r>
              <a:rPr b="1" lang="fr"/>
              <a:t>e , la gestion opérationnelles des équipes .</a:t>
            </a:r>
            <a:endParaRPr b="0" i="0" sz="1400" u="none" cap="none" strike="noStrike">
              <a:solidFill>
                <a:srgbClr val="000000"/>
              </a:solidFill>
              <a:latin typeface="Arial"/>
              <a:ea typeface="Arial"/>
              <a:cs typeface="Arial"/>
              <a:sym typeface="Arial"/>
            </a:endParaRPr>
          </a:p>
        </p:txBody>
      </p:sp>
      <p:sp>
        <p:nvSpPr>
          <p:cNvPr id="85" name="Google Shape;85;p3"/>
          <p:cNvSpPr txBox="1"/>
          <p:nvPr/>
        </p:nvSpPr>
        <p:spPr>
          <a:xfrm>
            <a:off x="326650" y="4441725"/>
            <a:ext cx="10314300" cy="930600"/>
          </a:xfrm>
          <a:prstGeom prst="rect">
            <a:avLst/>
          </a:prstGeom>
          <a:solidFill>
            <a:srgbClr val="990000"/>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35"/>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85725" marR="0" rtl="0" algn="l">
              <a:lnSpc>
                <a:spcPct val="100000"/>
              </a:lnSpc>
              <a:spcBef>
                <a:spcPts val="0"/>
              </a:spcBef>
              <a:spcAft>
                <a:spcPts val="0"/>
              </a:spcAft>
              <a:buClr>
                <a:srgbClr val="000000"/>
              </a:buClr>
              <a:buSzPts val="1400"/>
              <a:buFont typeface="Arial"/>
              <a:buNone/>
            </a:pPr>
            <a:r>
              <a:rPr b="0" i="0" lang="fr" sz="1400" u="none" cap="none" strike="noStrike">
                <a:solidFill>
                  <a:srgbClr val="FFFFFF"/>
                </a:solidFill>
                <a:latin typeface="Arial"/>
                <a:ea typeface="Arial"/>
                <a:cs typeface="Arial"/>
                <a:sym typeface="Arial"/>
              </a:rPr>
              <a:t>Notre mission est donc </a:t>
            </a:r>
            <a:r>
              <a:rPr b="1" i="0" lang="fr" sz="1400" u="none" cap="none" strike="noStrike">
                <a:solidFill>
                  <a:srgbClr val="FFFFFF"/>
                </a:solidFill>
                <a:latin typeface="Arial"/>
                <a:ea typeface="Arial"/>
                <a:cs typeface="Arial"/>
                <a:sym typeface="Arial"/>
              </a:rPr>
              <a:t>d’</a:t>
            </a:r>
            <a:r>
              <a:rPr b="1" lang="fr">
                <a:solidFill>
                  <a:srgbClr val="FFFFFF"/>
                </a:solidFill>
              </a:rPr>
              <a:t>identifier et enrôler</a:t>
            </a:r>
            <a:r>
              <a:rPr b="1" i="0" lang="fr" sz="1400" u="none" cap="none" strike="noStrike">
                <a:solidFill>
                  <a:srgbClr val="FFFFFF"/>
                </a:solidFill>
                <a:latin typeface="Arial"/>
                <a:ea typeface="Arial"/>
                <a:cs typeface="Arial"/>
                <a:sym typeface="Arial"/>
              </a:rPr>
              <a:t> les entreprenants</a:t>
            </a:r>
            <a:r>
              <a:rPr b="1" lang="fr">
                <a:solidFill>
                  <a:srgbClr val="FFFFFF"/>
                </a:solidFill>
              </a:rPr>
              <a:t> de Côte d’ivoire</a:t>
            </a:r>
            <a:r>
              <a:rPr b="1" i="0" lang="fr" sz="1400" u="none" cap="none" strike="noStrike">
                <a:solidFill>
                  <a:srgbClr val="FFFFFF"/>
                </a:solidFill>
                <a:latin typeface="Arial"/>
                <a:ea typeface="Arial"/>
                <a:cs typeface="Arial"/>
                <a:sym typeface="Arial"/>
              </a:rPr>
              <a:t> (TCE/TEE).</a:t>
            </a:r>
            <a:endParaRPr b="1" i="0" sz="1400" u="none" cap="none" strike="noStrike">
              <a:solidFill>
                <a:srgbClr val="FFFFFF"/>
              </a:solidFill>
              <a:latin typeface="Arial"/>
              <a:ea typeface="Arial"/>
              <a:cs typeface="Arial"/>
              <a:sym typeface="Arial"/>
            </a:endParaRPr>
          </a:p>
          <a:p>
            <a:pPr indent="0" lvl="0" marL="85725" marR="0" rtl="0" algn="l">
              <a:lnSpc>
                <a:spcPct val="100000"/>
              </a:lnSpc>
              <a:spcBef>
                <a:spcPts val="0"/>
              </a:spcBef>
              <a:spcAft>
                <a:spcPts val="0"/>
              </a:spcAft>
              <a:buClr>
                <a:srgbClr val="000000"/>
              </a:buClr>
              <a:buSzPts val="1400"/>
              <a:buFont typeface="Arial"/>
              <a:buNone/>
            </a:pPr>
            <a:r>
              <a:t/>
            </a:r>
            <a:endParaRPr b="1">
              <a:solidFill>
                <a:srgbClr val="FFFFFF"/>
              </a:solidFill>
            </a:endParaRPr>
          </a:p>
        </p:txBody>
      </p:sp>
      <p:pic>
        <p:nvPicPr>
          <p:cNvPr id="86" name="Google Shape;86;p3"/>
          <p:cNvPicPr preferRelativeResize="0"/>
          <p:nvPr/>
        </p:nvPicPr>
        <p:blipFill rotWithShape="1">
          <a:blip r:embed="rId3">
            <a:alphaModFix/>
          </a:blip>
          <a:srcRect b="0" l="0" r="0" t="0"/>
          <a:stretch/>
        </p:blipFill>
        <p:spPr>
          <a:xfrm>
            <a:off x="9577699" y="1"/>
            <a:ext cx="2553284" cy="715442"/>
          </a:xfrm>
          <a:prstGeom prst="rect">
            <a:avLst/>
          </a:prstGeom>
          <a:noFill/>
          <a:ln>
            <a:noFill/>
          </a:ln>
        </p:spPr>
      </p:pic>
      <p:sp>
        <p:nvSpPr>
          <p:cNvPr id="87" name="Google Shape;87;p3"/>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129539" rtl="0" algn="l">
              <a:lnSpc>
                <a:spcPct val="118076"/>
              </a:lnSpc>
              <a:spcBef>
                <a:spcPts val="0"/>
              </a:spcBef>
              <a:spcAft>
                <a:spcPts val="0"/>
              </a:spcAft>
              <a:buSzPts val="1300"/>
              <a:buNone/>
            </a:pPr>
            <a:fld id="{00000000-1234-1234-1234-123412341234}" type="slidenum">
              <a:rPr lang="fr"/>
              <a:t>‹#›</a:t>
            </a:fld>
            <a:endParaRPr/>
          </a:p>
        </p:txBody>
      </p:sp>
      <p:pic>
        <p:nvPicPr>
          <p:cNvPr id="88" name="Google Shape;88;p3"/>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0" y="3435"/>
            <a:ext cx="12141300" cy="821400"/>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Management des équipes</a:t>
            </a:r>
            <a:endParaRPr/>
          </a:p>
        </p:txBody>
      </p:sp>
      <p:sp>
        <p:nvSpPr>
          <p:cNvPr id="94" name="Google Shape;94;p18"/>
          <p:cNvSpPr txBox="1"/>
          <p:nvPr/>
        </p:nvSpPr>
        <p:spPr>
          <a:xfrm>
            <a:off x="667650" y="1820250"/>
            <a:ext cx="10856700" cy="3217500"/>
          </a:xfrm>
          <a:prstGeom prst="rect">
            <a:avLst/>
          </a:prstGeom>
          <a:noFill/>
          <a:ln>
            <a:noFill/>
          </a:ln>
        </p:spPr>
        <p:txBody>
          <a:bodyPr anchorCtr="0" anchor="t" bIns="0" lIns="0" spcFirstLastPara="1" rIns="0" wrap="square" tIns="12700">
            <a:spAutoFit/>
          </a:bodyPr>
          <a:lstStyle/>
          <a:p>
            <a:pPr indent="0" lvl="0" marL="0" rtl="0" algn="just">
              <a:lnSpc>
                <a:spcPct val="115000"/>
              </a:lnSpc>
              <a:spcBef>
                <a:spcPts val="1200"/>
              </a:spcBef>
              <a:spcAft>
                <a:spcPts val="0"/>
              </a:spcAft>
              <a:buClr>
                <a:schemeClr val="dk1"/>
              </a:buClr>
              <a:buSzPts val="1100"/>
              <a:buFont typeface="Arial"/>
              <a:buNone/>
            </a:pPr>
            <a:r>
              <a:rPr b="1" lang="fr" sz="1600">
                <a:solidFill>
                  <a:schemeClr val="dk1"/>
                </a:solidFill>
              </a:rPr>
              <a:t>Un Pilier de la Réussite</a:t>
            </a:r>
            <a:endParaRPr b="1" sz="1600">
              <a:solidFill>
                <a:schemeClr val="dk1"/>
              </a:solidFill>
            </a:endParaRPr>
          </a:p>
          <a:p>
            <a:pPr indent="0" lvl="0" marL="0" rtl="0" algn="just">
              <a:lnSpc>
                <a:spcPct val="115000"/>
              </a:lnSpc>
              <a:spcBef>
                <a:spcPts val="1200"/>
              </a:spcBef>
              <a:spcAft>
                <a:spcPts val="0"/>
              </a:spcAft>
              <a:buSzPts val="1100"/>
              <a:buNone/>
            </a:pPr>
            <a:r>
              <a:rPr lang="fr" sz="1600">
                <a:solidFill>
                  <a:schemeClr val="dk1"/>
                </a:solidFill>
              </a:rPr>
              <a:t>Le management des équipes est essentiel pour atteindre les objectifs fixés dans le cadre d’un projet. </a:t>
            </a:r>
            <a:endParaRPr sz="1600">
              <a:solidFill>
                <a:schemeClr val="dk1"/>
              </a:solidFill>
            </a:endParaRPr>
          </a:p>
          <a:p>
            <a:pPr indent="0" lvl="0" marL="0" rtl="0" algn="just">
              <a:lnSpc>
                <a:spcPct val="115000"/>
              </a:lnSpc>
              <a:spcBef>
                <a:spcPts val="1200"/>
              </a:spcBef>
              <a:spcAft>
                <a:spcPts val="0"/>
              </a:spcAft>
              <a:buSzPts val="1100"/>
              <a:buNone/>
            </a:pPr>
            <a:r>
              <a:rPr lang="fr" sz="1600">
                <a:solidFill>
                  <a:schemeClr val="dk1"/>
                </a:solidFill>
              </a:rPr>
              <a:t>Un bon responsable doit savoir motiver ses collaborateurs, leur attribuer des rôles clairs et instaurer un climat de confiance. Cela passe par une communication efficace, l’écoute active des besoins et préoccupations, ainsi que par la reconnaissance des efforts individuels et collectifs. En outre, il est crucial d’anticiper et de gérer les conflits rapidement pour maintenir une dynamique positive.</a:t>
            </a:r>
            <a:endParaRPr sz="1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fr" sz="1600">
                <a:solidFill>
                  <a:schemeClr val="dk1"/>
                </a:solidFill>
              </a:rPr>
              <a:t>Enfin, un manager performant qui </a:t>
            </a:r>
            <a:r>
              <a:rPr lang="fr" sz="1600">
                <a:solidFill>
                  <a:schemeClr val="dk1"/>
                </a:solidFill>
              </a:rPr>
              <a:t>inspire</a:t>
            </a:r>
            <a:r>
              <a:rPr lang="fr" sz="1600">
                <a:solidFill>
                  <a:schemeClr val="dk1"/>
                </a:solidFill>
              </a:rPr>
              <a:t> son équipe par l’exemple, en faisant preuve d'engagement, de flexibilité et de résilience face aux défis. Une équipe bien managée est une équipe performante et alignée sur les objectifs du projet.</a:t>
            </a:r>
            <a:endParaRPr sz="1600">
              <a:solidFill>
                <a:schemeClr val="dk1"/>
              </a:solidFill>
            </a:endParaRPr>
          </a:p>
          <a:p>
            <a:pPr indent="0" lvl="0" marL="12700" marR="63500" rtl="0" algn="just">
              <a:lnSpc>
                <a:spcPct val="114999"/>
              </a:lnSpc>
              <a:spcBef>
                <a:spcPts val="1200"/>
              </a:spcBef>
              <a:spcAft>
                <a:spcPts val="0"/>
              </a:spcAft>
              <a:buNone/>
            </a:pPr>
            <a:r>
              <a:t/>
            </a:r>
            <a:endParaRPr sz="2100"/>
          </a:p>
        </p:txBody>
      </p:sp>
      <p:pic>
        <p:nvPicPr>
          <p:cNvPr id="95" name="Google Shape;95;p18"/>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96" name="Google Shape;96;p18"/>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97" name="Google Shape;97;p18"/>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25400" y="13174"/>
            <a:ext cx="12141200"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Rôle &amp; responsabilité du RV</a:t>
            </a:r>
            <a:endParaRPr/>
          </a:p>
        </p:txBody>
      </p:sp>
      <p:pic>
        <p:nvPicPr>
          <p:cNvPr id="103" name="Google Shape;103;p17"/>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sp>
        <p:nvSpPr>
          <p:cNvPr id="104" name="Google Shape;104;p17"/>
          <p:cNvSpPr txBox="1"/>
          <p:nvPr/>
        </p:nvSpPr>
        <p:spPr>
          <a:xfrm>
            <a:off x="4816548" y="3592353"/>
            <a:ext cx="1839595" cy="882650"/>
          </a:xfrm>
          <a:prstGeom prst="rect">
            <a:avLst/>
          </a:prstGeom>
          <a:solidFill>
            <a:srgbClr val="FAE034"/>
          </a:solidFill>
          <a:ln cap="flat" cmpd="sng" w="25375">
            <a:solidFill>
              <a:srgbClr val="685E14"/>
            </a:solidFill>
            <a:prstDash val="solid"/>
            <a:round/>
            <a:headEnd len="sm" w="sm" type="none"/>
            <a:tailEnd len="sm" w="sm" type="none"/>
          </a:ln>
        </p:spPr>
        <p:txBody>
          <a:bodyPr anchorCtr="0" anchor="t" bIns="0" lIns="0" spcFirstLastPara="1" rIns="0" wrap="square" tIns="13335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Times New Roman"/>
              <a:ea typeface="Times New Roman"/>
              <a:cs typeface="Times New Roman"/>
              <a:sym typeface="Times New Roman"/>
            </a:endParaRPr>
          </a:p>
          <a:p>
            <a:pPr indent="0" lvl="0" marL="154305" marR="0" rtl="0" algn="l">
              <a:lnSpc>
                <a:spcPct val="100000"/>
              </a:lnSpc>
              <a:spcBef>
                <a:spcPts val="0"/>
              </a:spcBef>
              <a:spcAft>
                <a:spcPts val="0"/>
              </a:spcAft>
              <a:buNone/>
            </a:pPr>
            <a:r>
              <a:rPr b="1" i="0" lang="fr" sz="1400" u="none" cap="none" strike="noStrike">
                <a:solidFill>
                  <a:srgbClr val="FFFFFF"/>
                </a:solidFill>
                <a:latin typeface="Arial"/>
                <a:ea typeface="Arial"/>
                <a:cs typeface="Arial"/>
                <a:sym typeface="Arial"/>
              </a:rPr>
              <a:t>CHEF D’EQUIPE 2</a:t>
            </a:r>
            <a:endParaRPr b="0" i="0" sz="1400" u="none" cap="none" strike="noStrike">
              <a:solidFill>
                <a:srgbClr val="000000"/>
              </a:solidFill>
              <a:latin typeface="Arial"/>
              <a:ea typeface="Arial"/>
              <a:cs typeface="Arial"/>
              <a:sym typeface="Arial"/>
            </a:endParaRPr>
          </a:p>
        </p:txBody>
      </p:sp>
      <p:grpSp>
        <p:nvGrpSpPr>
          <p:cNvPr id="105" name="Google Shape;105;p17"/>
          <p:cNvGrpSpPr/>
          <p:nvPr/>
        </p:nvGrpSpPr>
        <p:grpSpPr>
          <a:xfrm>
            <a:off x="1597113" y="4699969"/>
            <a:ext cx="1078230" cy="1021080"/>
            <a:chOff x="1597113" y="4699969"/>
            <a:chExt cx="1078230" cy="1021080"/>
          </a:xfrm>
        </p:grpSpPr>
        <p:sp>
          <p:nvSpPr>
            <p:cNvPr id="106" name="Google Shape;106;p17"/>
            <p:cNvSpPr/>
            <p:nvPr/>
          </p:nvSpPr>
          <p:spPr>
            <a:xfrm>
              <a:off x="1597113" y="4699969"/>
              <a:ext cx="1078230" cy="1021080"/>
            </a:xfrm>
            <a:custGeom>
              <a:rect b="b" l="l" r="r" t="t"/>
              <a:pathLst>
                <a:path extrusionOk="0" h="1021079" w="1078230">
                  <a:moveTo>
                    <a:pt x="539099" y="1020599"/>
                  </a:moveTo>
                  <a:lnTo>
                    <a:pt x="490030" y="1018514"/>
                  </a:lnTo>
                  <a:lnTo>
                    <a:pt x="442196" y="1012378"/>
                  </a:lnTo>
                  <a:lnTo>
                    <a:pt x="395785" y="1002371"/>
                  </a:lnTo>
                  <a:lnTo>
                    <a:pt x="350990" y="988674"/>
                  </a:lnTo>
                  <a:lnTo>
                    <a:pt x="308000" y="971466"/>
                  </a:lnTo>
                  <a:lnTo>
                    <a:pt x="267005" y="950929"/>
                  </a:lnTo>
                  <a:lnTo>
                    <a:pt x="228197" y="927241"/>
                  </a:lnTo>
                  <a:lnTo>
                    <a:pt x="191764" y="900583"/>
                  </a:lnTo>
                  <a:lnTo>
                    <a:pt x="157898" y="871136"/>
                  </a:lnTo>
                  <a:lnTo>
                    <a:pt x="126789" y="839079"/>
                  </a:lnTo>
                  <a:lnTo>
                    <a:pt x="98627" y="804593"/>
                  </a:lnTo>
                  <a:lnTo>
                    <a:pt x="73602" y="767858"/>
                  </a:lnTo>
                  <a:lnTo>
                    <a:pt x="51906" y="729053"/>
                  </a:lnTo>
                  <a:lnTo>
                    <a:pt x="33727" y="688360"/>
                  </a:lnTo>
                  <a:lnTo>
                    <a:pt x="19257" y="645957"/>
                  </a:lnTo>
                  <a:lnTo>
                    <a:pt x="8685" y="602027"/>
                  </a:lnTo>
                  <a:lnTo>
                    <a:pt x="2203" y="556747"/>
                  </a:lnTo>
                  <a:lnTo>
                    <a:pt x="0" y="510299"/>
                  </a:lnTo>
                  <a:lnTo>
                    <a:pt x="2203" y="463852"/>
                  </a:lnTo>
                  <a:lnTo>
                    <a:pt x="8685" y="418572"/>
                  </a:lnTo>
                  <a:lnTo>
                    <a:pt x="19257" y="374642"/>
                  </a:lnTo>
                  <a:lnTo>
                    <a:pt x="33727" y="332239"/>
                  </a:lnTo>
                  <a:lnTo>
                    <a:pt x="51906" y="291546"/>
                  </a:lnTo>
                  <a:lnTo>
                    <a:pt x="73602" y="252741"/>
                  </a:lnTo>
                  <a:lnTo>
                    <a:pt x="98627" y="216006"/>
                  </a:lnTo>
                  <a:lnTo>
                    <a:pt x="126789" y="181520"/>
                  </a:lnTo>
                  <a:lnTo>
                    <a:pt x="157898" y="149463"/>
                  </a:lnTo>
                  <a:lnTo>
                    <a:pt x="191764" y="120016"/>
                  </a:lnTo>
                  <a:lnTo>
                    <a:pt x="228197" y="93358"/>
                  </a:lnTo>
                  <a:lnTo>
                    <a:pt x="267005" y="69670"/>
                  </a:lnTo>
                  <a:lnTo>
                    <a:pt x="308000" y="49133"/>
                  </a:lnTo>
                  <a:lnTo>
                    <a:pt x="350990" y="31925"/>
                  </a:lnTo>
                  <a:lnTo>
                    <a:pt x="395785" y="18228"/>
                  </a:lnTo>
                  <a:lnTo>
                    <a:pt x="442196" y="8221"/>
                  </a:lnTo>
                  <a:lnTo>
                    <a:pt x="490030" y="2085"/>
                  </a:lnTo>
                  <a:lnTo>
                    <a:pt x="539099" y="0"/>
                  </a:lnTo>
                  <a:lnTo>
                    <a:pt x="592383" y="2497"/>
                  </a:lnTo>
                  <a:lnTo>
                    <a:pt x="644764" y="9895"/>
                  </a:lnTo>
                  <a:lnTo>
                    <a:pt x="695889" y="22057"/>
                  </a:lnTo>
                  <a:lnTo>
                    <a:pt x="745404" y="38844"/>
                  </a:lnTo>
                  <a:lnTo>
                    <a:pt x="792957" y="60116"/>
                  </a:lnTo>
                  <a:lnTo>
                    <a:pt x="838192" y="85736"/>
                  </a:lnTo>
                  <a:lnTo>
                    <a:pt x="880758" y="115564"/>
                  </a:lnTo>
                  <a:lnTo>
                    <a:pt x="920301" y="149463"/>
                  </a:lnTo>
                  <a:lnTo>
                    <a:pt x="956112" y="186893"/>
                  </a:lnTo>
                  <a:lnTo>
                    <a:pt x="987624" y="227184"/>
                  </a:lnTo>
                  <a:lnTo>
                    <a:pt x="1014690" y="270004"/>
                  </a:lnTo>
                  <a:lnTo>
                    <a:pt x="1037163" y="315016"/>
                  </a:lnTo>
                  <a:lnTo>
                    <a:pt x="1054897" y="361886"/>
                  </a:lnTo>
                  <a:lnTo>
                    <a:pt x="1067745" y="410280"/>
                  </a:lnTo>
                  <a:lnTo>
                    <a:pt x="1075562" y="459863"/>
                  </a:lnTo>
                  <a:lnTo>
                    <a:pt x="1078199" y="510299"/>
                  </a:lnTo>
                  <a:lnTo>
                    <a:pt x="1075996" y="556747"/>
                  </a:lnTo>
                  <a:lnTo>
                    <a:pt x="1069514" y="602027"/>
                  </a:lnTo>
                  <a:lnTo>
                    <a:pt x="1058942" y="645957"/>
                  </a:lnTo>
                  <a:lnTo>
                    <a:pt x="1044472" y="688360"/>
                  </a:lnTo>
                  <a:lnTo>
                    <a:pt x="1026293" y="729053"/>
                  </a:lnTo>
                  <a:lnTo>
                    <a:pt x="1004597" y="767858"/>
                  </a:lnTo>
                  <a:lnTo>
                    <a:pt x="979572" y="804593"/>
                  </a:lnTo>
                  <a:lnTo>
                    <a:pt x="951410" y="839079"/>
                  </a:lnTo>
                  <a:lnTo>
                    <a:pt x="920301" y="871136"/>
                  </a:lnTo>
                  <a:lnTo>
                    <a:pt x="886435" y="900583"/>
                  </a:lnTo>
                  <a:lnTo>
                    <a:pt x="850002" y="927241"/>
                  </a:lnTo>
                  <a:lnTo>
                    <a:pt x="811194" y="950929"/>
                  </a:lnTo>
                  <a:lnTo>
                    <a:pt x="770199" y="971466"/>
                  </a:lnTo>
                  <a:lnTo>
                    <a:pt x="727209" y="988674"/>
                  </a:lnTo>
                  <a:lnTo>
                    <a:pt x="682414" y="1002371"/>
                  </a:lnTo>
                  <a:lnTo>
                    <a:pt x="636003" y="1012378"/>
                  </a:lnTo>
                  <a:lnTo>
                    <a:pt x="588169" y="1018514"/>
                  </a:lnTo>
                  <a:lnTo>
                    <a:pt x="539099" y="1020599"/>
                  </a:lnTo>
                  <a:close/>
                </a:path>
              </a:pathLst>
            </a:custGeom>
            <a:solidFill>
              <a:srgbClr val="44546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7" name="Google Shape;107;p17"/>
            <p:cNvSpPr/>
            <p:nvPr/>
          </p:nvSpPr>
          <p:spPr>
            <a:xfrm>
              <a:off x="1597113" y="4699969"/>
              <a:ext cx="1078230" cy="1021080"/>
            </a:xfrm>
            <a:custGeom>
              <a:rect b="b" l="l" r="r" t="t"/>
              <a:pathLst>
                <a:path extrusionOk="0" h="1021079" w="1078230">
                  <a:moveTo>
                    <a:pt x="0" y="510299"/>
                  </a:moveTo>
                  <a:lnTo>
                    <a:pt x="2203" y="463852"/>
                  </a:lnTo>
                  <a:lnTo>
                    <a:pt x="8685" y="418572"/>
                  </a:lnTo>
                  <a:lnTo>
                    <a:pt x="19257" y="374642"/>
                  </a:lnTo>
                  <a:lnTo>
                    <a:pt x="33727" y="332239"/>
                  </a:lnTo>
                  <a:lnTo>
                    <a:pt x="51906" y="291546"/>
                  </a:lnTo>
                  <a:lnTo>
                    <a:pt x="73602" y="252741"/>
                  </a:lnTo>
                  <a:lnTo>
                    <a:pt x="98627" y="216006"/>
                  </a:lnTo>
                  <a:lnTo>
                    <a:pt x="126789" y="181520"/>
                  </a:lnTo>
                  <a:lnTo>
                    <a:pt x="157898" y="149463"/>
                  </a:lnTo>
                  <a:lnTo>
                    <a:pt x="191764" y="120016"/>
                  </a:lnTo>
                  <a:lnTo>
                    <a:pt x="228197" y="93358"/>
                  </a:lnTo>
                  <a:lnTo>
                    <a:pt x="267005" y="69670"/>
                  </a:lnTo>
                  <a:lnTo>
                    <a:pt x="308000" y="49133"/>
                  </a:lnTo>
                  <a:lnTo>
                    <a:pt x="350990" y="31925"/>
                  </a:lnTo>
                  <a:lnTo>
                    <a:pt x="395785" y="18228"/>
                  </a:lnTo>
                  <a:lnTo>
                    <a:pt x="442196" y="8221"/>
                  </a:lnTo>
                  <a:lnTo>
                    <a:pt x="490030" y="2085"/>
                  </a:lnTo>
                  <a:lnTo>
                    <a:pt x="539099" y="0"/>
                  </a:lnTo>
                  <a:lnTo>
                    <a:pt x="592383" y="2497"/>
                  </a:lnTo>
                  <a:lnTo>
                    <a:pt x="644764" y="9895"/>
                  </a:lnTo>
                  <a:lnTo>
                    <a:pt x="695889" y="22057"/>
                  </a:lnTo>
                  <a:lnTo>
                    <a:pt x="745404" y="38844"/>
                  </a:lnTo>
                  <a:lnTo>
                    <a:pt x="792957" y="60116"/>
                  </a:lnTo>
                  <a:lnTo>
                    <a:pt x="838192" y="85736"/>
                  </a:lnTo>
                  <a:lnTo>
                    <a:pt x="880758" y="115564"/>
                  </a:lnTo>
                  <a:lnTo>
                    <a:pt x="920301" y="149463"/>
                  </a:lnTo>
                  <a:lnTo>
                    <a:pt x="956113" y="186893"/>
                  </a:lnTo>
                  <a:lnTo>
                    <a:pt x="987624" y="227184"/>
                  </a:lnTo>
                  <a:lnTo>
                    <a:pt x="1014690" y="270004"/>
                  </a:lnTo>
                  <a:lnTo>
                    <a:pt x="1037163" y="315016"/>
                  </a:lnTo>
                  <a:lnTo>
                    <a:pt x="1054897" y="361886"/>
                  </a:lnTo>
                  <a:lnTo>
                    <a:pt x="1067745" y="410280"/>
                  </a:lnTo>
                  <a:lnTo>
                    <a:pt x="1075562" y="459863"/>
                  </a:lnTo>
                  <a:lnTo>
                    <a:pt x="1078199" y="510299"/>
                  </a:lnTo>
                  <a:lnTo>
                    <a:pt x="1075996" y="556747"/>
                  </a:lnTo>
                  <a:lnTo>
                    <a:pt x="1069514" y="602027"/>
                  </a:lnTo>
                  <a:lnTo>
                    <a:pt x="1058942" y="645957"/>
                  </a:lnTo>
                  <a:lnTo>
                    <a:pt x="1044472" y="688360"/>
                  </a:lnTo>
                  <a:lnTo>
                    <a:pt x="1026293" y="729053"/>
                  </a:lnTo>
                  <a:lnTo>
                    <a:pt x="1004597" y="767858"/>
                  </a:lnTo>
                  <a:lnTo>
                    <a:pt x="979572" y="804593"/>
                  </a:lnTo>
                  <a:lnTo>
                    <a:pt x="951410" y="839079"/>
                  </a:lnTo>
                  <a:lnTo>
                    <a:pt x="920301" y="871136"/>
                  </a:lnTo>
                  <a:lnTo>
                    <a:pt x="886435" y="900583"/>
                  </a:lnTo>
                  <a:lnTo>
                    <a:pt x="850002" y="927241"/>
                  </a:lnTo>
                  <a:lnTo>
                    <a:pt x="811194" y="950929"/>
                  </a:lnTo>
                  <a:lnTo>
                    <a:pt x="770199" y="971466"/>
                  </a:lnTo>
                  <a:lnTo>
                    <a:pt x="727209" y="988674"/>
                  </a:lnTo>
                  <a:lnTo>
                    <a:pt x="682414" y="1002371"/>
                  </a:lnTo>
                  <a:lnTo>
                    <a:pt x="636003" y="1012378"/>
                  </a:lnTo>
                  <a:lnTo>
                    <a:pt x="588169" y="1018514"/>
                  </a:lnTo>
                  <a:lnTo>
                    <a:pt x="539099" y="1020599"/>
                  </a:lnTo>
                  <a:lnTo>
                    <a:pt x="490030" y="1018514"/>
                  </a:lnTo>
                  <a:lnTo>
                    <a:pt x="442196" y="1012378"/>
                  </a:lnTo>
                  <a:lnTo>
                    <a:pt x="395785" y="1002371"/>
                  </a:lnTo>
                  <a:lnTo>
                    <a:pt x="350990" y="988674"/>
                  </a:lnTo>
                  <a:lnTo>
                    <a:pt x="308000" y="971466"/>
                  </a:lnTo>
                  <a:lnTo>
                    <a:pt x="267005" y="950929"/>
                  </a:lnTo>
                  <a:lnTo>
                    <a:pt x="228197" y="927241"/>
                  </a:lnTo>
                  <a:lnTo>
                    <a:pt x="191764" y="900583"/>
                  </a:lnTo>
                  <a:lnTo>
                    <a:pt x="157898" y="871136"/>
                  </a:lnTo>
                  <a:lnTo>
                    <a:pt x="126789" y="839079"/>
                  </a:lnTo>
                  <a:lnTo>
                    <a:pt x="98627" y="804593"/>
                  </a:lnTo>
                  <a:lnTo>
                    <a:pt x="73602" y="767858"/>
                  </a:lnTo>
                  <a:lnTo>
                    <a:pt x="51906" y="729053"/>
                  </a:lnTo>
                  <a:lnTo>
                    <a:pt x="33727" y="688360"/>
                  </a:lnTo>
                  <a:lnTo>
                    <a:pt x="19257" y="645957"/>
                  </a:lnTo>
                  <a:lnTo>
                    <a:pt x="8685" y="602027"/>
                  </a:lnTo>
                  <a:lnTo>
                    <a:pt x="2203" y="556747"/>
                  </a:lnTo>
                  <a:lnTo>
                    <a:pt x="0" y="510299"/>
                  </a:lnTo>
                  <a:close/>
                </a:path>
              </a:pathLst>
            </a:custGeom>
            <a:noFill/>
            <a:ln cap="flat" cmpd="sng" w="25375">
              <a:solidFill>
                <a:srgbClr val="44546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08" name="Google Shape;108;p17"/>
          <p:cNvSpPr txBox="1"/>
          <p:nvPr/>
        </p:nvSpPr>
        <p:spPr>
          <a:xfrm>
            <a:off x="2034663" y="4977097"/>
            <a:ext cx="203200" cy="452120"/>
          </a:xfrm>
          <a:prstGeom prst="rect">
            <a:avLst/>
          </a:prstGeom>
          <a:noFill/>
          <a:ln>
            <a:noFill/>
          </a:ln>
        </p:spPr>
        <p:txBody>
          <a:bodyPr anchorCtr="0" anchor="t" bIns="0" lIns="0" spcFirstLastPara="1" rIns="0" wrap="square" tIns="12700">
            <a:spAutoFit/>
          </a:bodyPr>
          <a:lstStyle/>
          <a:p>
            <a:pPr indent="-40005" lvl="0" marL="52069" marR="5080" rtl="0" algn="l">
              <a:lnSpc>
                <a:spcPct val="100000"/>
              </a:lnSpc>
              <a:spcBef>
                <a:spcPts val="0"/>
              </a:spcBef>
              <a:spcAft>
                <a:spcPts val="0"/>
              </a:spcAft>
              <a:buNone/>
            </a:pPr>
            <a:r>
              <a:rPr b="1" i="0" lang="fr" sz="1400" u="none" cap="none" strike="noStrike">
                <a:solidFill>
                  <a:srgbClr val="FFFFFF"/>
                </a:solidFill>
                <a:latin typeface="Arial"/>
                <a:ea typeface="Arial"/>
                <a:cs typeface="Arial"/>
                <a:sym typeface="Arial"/>
              </a:rPr>
              <a:t>AI 9</a:t>
            </a:r>
            <a:endParaRPr b="0" i="0" sz="1400" u="none" cap="none" strike="noStrike">
              <a:solidFill>
                <a:srgbClr val="000000"/>
              </a:solidFill>
              <a:latin typeface="Arial"/>
              <a:ea typeface="Arial"/>
              <a:cs typeface="Arial"/>
              <a:sym typeface="Arial"/>
            </a:endParaRPr>
          </a:p>
        </p:txBody>
      </p:sp>
      <p:grpSp>
        <p:nvGrpSpPr>
          <p:cNvPr id="109" name="Google Shape;109;p17"/>
          <p:cNvGrpSpPr/>
          <p:nvPr/>
        </p:nvGrpSpPr>
        <p:grpSpPr>
          <a:xfrm>
            <a:off x="8974190" y="4699969"/>
            <a:ext cx="1078230" cy="1021080"/>
            <a:chOff x="8974190" y="4699969"/>
            <a:chExt cx="1078230" cy="1021080"/>
          </a:xfrm>
        </p:grpSpPr>
        <p:sp>
          <p:nvSpPr>
            <p:cNvPr id="110" name="Google Shape;110;p17"/>
            <p:cNvSpPr/>
            <p:nvPr/>
          </p:nvSpPr>
          <p:spPr>
            <a:xfrm>
              <a:off x="8974190" y="4699969"/>
              <a:ext cx="1078230" cy="1021080"/>
            </a:xfrm>
            <a:custGeom>
              <a:rect b="b" l="l" r="r" t="t"/>
              <a:pathLst>
                <a:path extrusionOk="0" h="1021079" w="1078229">
                  <a:moveTo>
                    <a:pt x="539099" y="1020599"/>
                  </a:moveTo>
                  <a:lnTo>
                    <a:pt x="490030" y="1018514"/>
                  </a:lnTo>
                  <a:lnTo>
                    <a:pt x="442196" y="1012378"/>
                  </a:lnTo>
                  <a:lnTo>
                    <a:pt x="395785" y="1002371"/>
                  </a:lnTo>
                  <a:lnTo>
                    <a:pt x="350990" y="988674"/>
                  </a:lnTo>
                  <a:lnTo>
                    <a:pt x="308000" y="971466"/>
                  </a:lnTo>
                  <a:lnTo>
                    <a:pt x="267005" y="950929"/>
                  </a:lnTo>
                  <a:lnTo>
                    <a:pt x="228197" y="927241"/>
                  </a:lnTo>
                  <a:lnTo>
                    <a:pt x="191764" y="900583"/>
                  </a:lnTo>
                  <a:lnTo>
                    <a:pt x="157898" y="871136"/>
                  </a:lnTo>
                  <a:lnTo>
                    <a:pt x="126789" y="839079"/>
                  </a:lnTo>
                  <a:lnTo>
                    <a:pt x="98627" y="804593"/>
                  </a:lnTo>
                  <a:lnTo>
                    <a:pt x="73602" y="767858"/>
                  </a:lnTo>
                  <a:lnTo>
                    <a:pt x="51906" y="729053"/>
                  </a:lnTo>
                  <a:lnTo>
                    <a:pt x="33727" y="688360"/>
                  </a:lnTo>
                  <a:lnTo>
                    <a:pt x="19257" y="645957"/>
                  </a:lnTo>
                  <a:lnTo>
                    <a:pt x="8685" y="602027"/>
                  </a:lnTo>
                  <a:lnTo>
                    <a:pt x="2203" y="556747"/>
                  </a:lnTo>
                  <a:lnTo>
                    <a:pt x="0" y="510299"/>
                  </a:lnTo>
                  <a:lnTo>
                    <a:pt x="2203" y="463852"/>
                  </a:lnTo>
                  <a:lnTo>
                    <a:pt x="8685" y="418572"/>
                  </a:lnTo>
                  <a:lnTo>
                    <a:pt x="19257" y="374642"/>
                  </a:lnTo>
                  <a:lnTo>
                    <a:pt x="33727" y="332239"/>
                  </a:lnTo>
                  <a:lnTo>
                    <a:pt x="51906" y="291546"/>
                  </a:lnTo>
                  <a:lnTo>
                    <a:pt x="73602" y="252741"/>
                  </a:lnTo>
                  <a:lnTo>
                    <a:pt x="98627" y="216006"/>
                  </a:lnTo>
                  <a:lnTo>
                    <a:pt x="126789" y="181520"/>
                  </a:lnTo>
                  <a:lnTo>
                    <a:pt x="157898" y="149463"/>
                  </a:lnTo>
                  <a:lnTo>
                    <a:pt x="191764" y="120016"/>
                  </a:lnTo>
                  <a:lnTo>
                    <a:pt x="228197" y="93358"/>
                  </a:lnTo>
                  <a:lnTo>
                    <a:pt x="267005" y="69670"/>
                  </a:lnTo>
                  <a:lnTo>
                    <a:pt x="308000" y="49133"/>
                  </a:lnTo>
                  <a:lnTo>
                    <a:pt x="350990" y="31925"/>
                  </a:lnTo>
                  <a:lnTo>
                    <a:pt x="395785" y="18228"/>
                  </a:lnTo>
                  <a:lnTo>
                    <a:pt x="442196" y="8221"/>
                  </a:lnTo>
                  <a:lnTo>
                    <a:pt x="490030" y="2085"/>
                  </a:lnTo>
                  <a:lnTo>
                    <a:pt x="539099" y="0"/>
                  </a:lnTo>
                  <a:lnTo>
                    <a:pt x="592383" y="2497"/>
                  </a:lnTo>
                  <a:lnTo>
                    <a:pt x="644764" y="9895"/>
                  </a:lnTo>
                  <a:lnTo>
                    <a:pt x="695889" y="22057"/>
                  </a:lnTo>
                  <a:lnTo>
                    <a:pt x="745404" y="38844"/>
                  </a:lnTo>
                  <a:lnTo>
                    <a:pt x="792957" y="60116"/>
                  </a:lnTo>
                  <a:lnTo>
                    <a:pt x="838193" y="85736"/>
                  </a:lnTo>
                  <a:lnTo>
                    <a:pt x="880759" y="115564"/>
                  </a:lnTo>
                  <a:lnTo>
                    <a:pt x="920301" y="149463"/>
                  </a:lnTo>
                  <a:lnTo>
                    <a:pt x="956113" y="186893"/>
                  </a:lnTo>
                  <a:lnTo>
                    <a:pt x="987625" y="227184"/>
                  </a:lnTo>
                  <a:lnTo>
                    <a:pt x="1014690" y="270004"/>
                  </a:lnTo>
                  <a:lnTo>
                    <a:pt x="1037163" y="315016"/>
                  </a:lnTo>
                  <a:lnTo>
                    <a:pt x="1054897" y="361886"/>
                  </a:lnTo>
                  <a:lnTo>
                    <a:pt x="1067745" y="410280"/>
                  </a:lnTo>
                  <a:lnTo>
                    <a:pt x="1075562" y="459863"/>
                  </a:lnTo>
                  <a:lnTo>
                    <a:pt x="1078199" y="510299"/>
                  </a:lnTo>
                  <a:lnTo>
                    <a:pt x="1075996" y="556747"/>
                  </a:lnTo>
                  <a:lnTo>
                    <a:pt x="1069514" y="602027"/>
                  </a:lnTo>
                  <a:lnTo>
                    <a:pt x="1058942" y="645957"/>
                  </a:lnTo>
                  <a:lnTo>
                    <a:pt x="1044472" y="688360"/>
                  </a:lnTo>
                  <a:lnTo>
                    <a:pt x="1026293" y="729053"/>
                  </a:lnTo>
                  <a:lnTo>
                    <a:pt x="1004596" y="767858"/>
                  </a:lnTo>
                  <a:lnTo>
                    <a:pt x="979572" y="804593"/>
                  </a:lnTo>
                  <a:lnTo>
                    <a:pt x="951410" y="839079"/>
                  </a:lnTo>
                  <a:lnTo>
                    <a:pt x="920301" y="871136"/>
                  </a:lnTo>
                  <a:lnTo>
                    <a:pt x="886435" y="900583"/>
                  </a:lnTo>
                  <a:lnTo>
                    <a:pt x="850002" y="927241"/>
                  </a:lnTo>
                  <a:lnTo>
                    <a:pt x="811193" y="950929"/>
                  </a:lnTo>
                  <a:lnTo>
                    <a:pt x="770199" y="971466"/>
                  </a:lnTo>
                  <a:lnTo>
                    <a:pt x="727209" y="988674"/>
                  </a:lnTo>
                  <a:lnTo>
                    <a:pt x="682414" y="1002371"/>
                  </a:lnTo>
                  <a:lnTo>
                    <a:pt x="636003" y="1012378"/>
                  </a:lnTo>
                  <a:lnTo>
                    <a:pt x="588169" y="1018514"/>
                  </a:lnTo>
                  <a:lnTo>
                    <a:pt x="539099" y="1020599"/>
                  </a:lnTo>
                  <a:close/>
                </a:path>
              </a:pathLst>
            </a:custGeom>
            <a:solidFill>
              <a:srgbClr val="44546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 name="Google Shape;111;p17"/>
            <p:cNvSpPr/>
            <p:nvPr/>
          </p:nvSpPr>
          <p:spPr>
            <a:xfrm>
              <a:off x="8974190" y="4699969"/>
              <a:ext cx="1078230" cy="1021080"/>
            </a:xfrm>
            <a:custGeom>
              <a:rect b="b" l="l" r="r" t="t"/>
              <a:pathLst>
                <a:path extrusionOk="0" h="1021079" w="1078229">
                  <a:moveTo>
                    <a:pt x="0" y="510299"/>
                  </a:moveTo>
                  <a:lnTo>
                    <a:pt x="2203" y="463852"/>
                  </a:lnTo>
                  <a:lnTo>
                    <a:pt x="8685" y="418572"/>
                  </a:lnTo>
                  <a:lnTo>
                    <a:pt x="19257" y="374642"/>
                  </a:lnTo>
                  <a:lnTo>
                    <a:pt x="33727" y="332239"/>
                  </a:lnTo>
                  <a:lnTo>
                    <a:pt x="51906" y="291546"/>
                  </a:lnTo>
                  <a:lnTo>
                    <a:pt x="73602" y="252741"/>
                  </a:lnTo>
                  <a:lnTo>
                    <a:pt x="98627" y="216006"/>
                  </a:lnTo>
                  <a:lnTo>
                    <a:pt x="126789" y="181520"/>
                  </a:lnTo>
                  <a:lnTo>
                    <a:pt x="157898" y="149463"/>
                  </a:lnTo>
                  <a:lnTo>
                    <a:pt x="191764" y="120016"/>
                  </a:lnTo>
                  <a:lnTo>
                    <a:pt x="228197" y="93358"/>
                  </a:lnTo>
                  <a:lnTo>
                    <a:pt x="267005" y="69670"/>
                  </a:lnTo>
                  <a:lnTo>
                    <a:pt x="308000" y="49133"/>
                  </a:lnTo>
                  <a:lnTo>
                    <a:pt x="350990" y="31925"/>
                  </a:lnTo>
                  <a:lnTo>
                    <a:pt x="395785" y="18228"/>
                  </a:lnTo>
                  <a:lnTo>
                    <a:pt x="442196" y="8221"/>
                  </a:lnTo>
                  <a:lnTo>
                    <a:pt x="490030" y="2085"/>
                  </a:lnTo>
                  <a:lnTo>
                    <a:pt x="539099" y="0"/>
                  </a:lnTo>
                  <a:lnTo>
                    <a:pt x="592383" y="2497"/>
                  </a:lnTo>
                  <a:lnTo>
                    <a:pt x="644764" y="9895"/>
                  </a:lnTo>
                  <a:lnTo>
                    <a:pt x="695889" y="22057"/>
                  </a:lnTo>
                  <a:lnTo>
                    <a:pt x="745404" y="38844"/>
                  </a:lnTo>
                  <a:lnTo>
                    <a:pt x="792957" y="60116"/>
                  </a:lnTo>
                  <a:lnTo>
                    <a:pt x="838193" y="85736"/>
                  </a:lnTo>
                  <a:lnTo>
                    <a:pt x="880759" y="115564"/>
                  </a:lnTo>
                  <a:lnTo>
                    <a:pt x="920301" y="149463"/>
                  </a:lnTo>
                  <a:lnTo>
                    <a:pt x="956113" y="186893"/>
                  </a:lnTo>
                  <a:lnTo>
                    <a:pt x="987625" y="227184"/>
                  </a:lnTo>
                  <a:lnTo>
                    <a:pt x="1014690" y="270004"/>
                  </a:lnTo>
                  <a:lnTo>
                    <a:pt x="1037163" y="315016"/>
                  </a:lnTo>
                  <a:lnTo>
                    <a:pt x="1054897" y="361886"/>
                  </a:lnTo>
                  <a:lnTo>
                    <a:pt x="1067745" y="410280"/>
                  </a:lnTo>
                  <a:lnTo>
                    <a:pt x="1075562" y="459863"/>
                  </a:lnTo>
                  <a:lnTo>
                    <a:pt x="1078199" y="510299"/>
                  </a:lnTo>
                  <a:lnTo>
                    <a:pt x="1075996" y="556747"/>
                  </a:lnTo>
                  <a:lnTo>
                    <a:pt x="1069514" y="602027"/>
                  </a:lnTo>
                  <a:lnTo>
                    <a:pt x="1058942" y="645957"/>
                  </a:lnTo>
                  <a:lnTo>
                    <a:pt x="1044472" y="688360"/>
                  </a:lnTo>
                  <a:lnTo>
                    <a:pt x="1026293" y="729053"/>
                  </a:lnTo>
                  <a:lnTo>
                    <a:pt x="1004596" y="767858"/>
                  </a:lnTo>
                  <a:lnTo>
                    <a:pt x="979572" y="804593"/>
                  </a:lnTo>
                  <a:lnTo>
                    <a:pt x="951410" y="839079"/>
                  </a:lnTo>
                  <a:lnTo>
                    <a:pt x="920301" y="871136"/>
                  </a:lnTo>
                  <a:lnTo>
                    <a:pt x="886435" y="900583"/>
                  </a:lnTo>
                  <a:lnTo>
                    <a:pt x="850002" y="927241"/>
                  </a:lnTo>
                  <a:lnTo>
                    <a:pt x="811193" y="950929"/>
                  </a:lnTo>
                  <a:lnTo>
                    <a:pt x="770199" y="971466"/>
                  </a:lnTo>
                  <a:lnTo>
                    <a:pt x="727209" y="988674"/>
                  </a:lnTo>
                  <a:lnTo>
                    <a:pt x="682414" y="1002371"/>
                  </a:lnTo>
                  <a:lnTo>
                    <a:pt x="636003" y="1012378"/>
                  </a:lnTo>
                  <a:lnTo>
                    <a:pt x="588169" y="1018514"/>
                  </a:lnTo>
                  <a:lnTo>
                    <a:pt x="539099" y="1020599"/>
                  </a:lnTo>
                  <a:lnTo>
                    <a:pt x="490030" y="1018514"/>
                  </a:lnTo>
                  <a:lnTo>
                    <a:pt x="442196" y="1012378"/>
                  </a:lnTo>
                  <a:lnTo>
                    <a:pt x="395785" y="1002371"/>
                  </a:lnTo>
                  <a:lnTo>
                    <a:pt x="350990" y="988674"/>
                  </a:lnTo>
                  <a:lnTo>
                    <a:pt x="308000" y="971466"/>
                  </a:lnTo>
                  <a:lnTo>
                    <a:pt x="267005" y="950929"/>
                  </a:lnTo>
                  <a:lnTo>
                    <a:pt x="228197" y="927241"/>
                  </a:lnTo>
                  <a:lnTo>
                    <a:pt x="191764" y="900583"/>
                  </a:lnTo>
                  <a:lnTo>
                    <a:pt x="157898" y="871136"/>
                  </a:lnTo>
                  <a:lnTo>
                    <a:pt x="126789" y="839079"/>
                  </a:lnTo>
                  <a:lnTo>
                    <a:pt x="98627" y="804593"/>
                  </a:lnTo>
                  <a:lnTo>
                    <a:pt x="73602" y="767858"/>
                  </a:lnTo>
                  <a:lnTo>
                    <a:pt x="51906" y="729053"/>
                  </a:lnTo>
                  <a:lnTo>
                    <a:pt x="33727" y="688360"/>
                  </a:lnTo>
                  <a:lnTo>
                    <a:pt x="19257" y="645957"/>
                  </a:lnTo>
                  <a:lnTo>
                    <a:pt x="8685" y="602027"/>
                  </a:lnTo>
                  <a:lnTo>
                    <a:pt x="2203" y="556747"/>
                  </a:lnTo>
                  <a:lnTo>
                    <a:pt x="0" y="510299"/>
                  </a:lnTo>
                  <a:close/>
                </a:path>
              </a:pathLst>
            </a:custGeom>
            <a:noFill/>
            <a:ln cap="flat" cmpd="sng" w="25375">
              <a:solidFill>
                <a:srgbClr val="685E1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12" name="Google Shape;112;p17"/>
          <p:cNvSpPr txBox="1"/>
          <p:nvPr/>
        </p:nvSpPr>
        <p:spPr>
          <a:xfrm>
            <a:off x="9411739" y="4977097"/>
            <a:ext cx="203200" cy="452120"/>
          </a:xfrm>
          <a:prstGeom prst="rect">
            <a:avLst/>
          </a:prstGeom>
          <a:noFill/>
          <a:ln>
            <a:noFill/>
          </a:ln>
        </p:spPr>
        <p:txBody>
          <a:bodyPr anchorCtr="0" anchor="t" bIns="0" lIns="0" spcFirstLastPara="1" rIns="0" wrap="square" tIns="12700">
            <a:spAutoFit/>
          </a:bodyPr>
          <a:lstStyle/>
          <a:p>
            <a:pPr indent="-40005" lvl="0" marL="52069" marR="5080" rtl="0" algn="l">
              <a:lnSpc>
                <a:spcPct val="100000"/>
              </a:lnSpc>
              <a:spcBef>
                <a:spcPts val="0"/>
              </a:spcBef>
              <a:spcAft>
                <a:spcPts val="0"/>
              </a:spcAft>
              <a:buNone/>
            </a:pPr>
            <a:r>
              <a:rPr b="1" i="0" lang="fr" sz="1400" u="none" cap="none" strike="noStrike">
                <a:solidFill>
                  <a:srgbClr val="FFFFFF"/>
                </a:solidFill>
                <a:latin typeface="Arial"/>
                <a:ea typeface="Arial"/>
                <a:cs typeface="Arial"/>
                <a:sym typeface="Arial"/>
              </a:rPr>
              <a:t>AI 9</a:t>
            </a:r>
            <a:endParaRPr b="0" i="0" sz="1400" u="none" cap="none" strike="noStrike">
              <a:solidFill>
                <a:srgbClr val="000000"/>
              </a:solidFill>
              <a:latin typeface="Arial"/>
              <a:ea typeface="Arial"/>
              <a:cs typeface="Arial"/>
              <a:sym typeface="Arial"/>
            </a:endParaRPr>
          </a:p>
        </p:txBody>
      </p:sp>
      <p:sp>
        <p:nvSpPr>
          <p:cNvPr id="113" name="Google Shape;113;p17"/>
          <p:cNvSpPr/>
          <p:nvPr/>
        </p:nvSpPr>
        <p:spPr>
          <a:xfrm>
            <a:off x="5736247" y="2593846"/>
            <a:ext cx="0" cy="1009650"/>
          </a:xfrm>
          <a:custGeom>
            <a:rect b="b" l="l" r="r" t="t"/>
            <a:pathLst>
              <a:path extrusionOk="0" h="1009650" w="120000">
                <a:moveTo>
                  <a:pt x="0" y="0"/>
                </a:moveTo>
                <a:lnTo>
                  <a:pt x="0" y="100919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4" name="Google Shape;114;p17"/>
          <p:cNvSpPr txBox="1"/>
          <p:nvPr/>
        </p:nvSpPr>
        <p:spPr>
          <a:xfrm>
            <a:off x="8593647" y="3592353"/>
            <a:ext cx="1839595" cy="882650"/>
          </a:xfrm>
          <a:prstGeom prst="rect">
            <a:avLst/>
          </a:prstGeom>
          <a:solidFill>
            <a:srgbClr val="FAE034"/>
          </a:solidFill>
          <a:ln cap="flat" cmpd="sng" w="25375">
            <a:solidFill>
              <a:srgbClr val="685E14"/>
            </a:solidFill>
            <a:prstDash val="solid"/>
            <a:round/>
            <a:headEnd len="sm" w="sm" type="none"/>
            <a:tailEnd len="sm" w="sm" type="none"/>
          </a:ln>
        </p:spPr>
        <p:txBody>
          <a:bodyPr anchorCtr="0" anchor="t" bIns="0" lIns="0" spcFirstLastPara="1" rIns="0" wrap="square" tIns="13335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Times New Roman"/>
              <a:ea typeface="Times New Roman"/>
              <a:cs typeface="Times New Roman"/>
              <a:sym typeface="Times New Roman"/>
            </a:endParaRPr>
          </a:p>
          <a:p>
            <a:pPr indent="0" lvl="0" marL="154305" marR="0" rtl="0" algn="l">
              <a:lnSpc>
                <a:spcPct val="100000"/>
              </a:lnSpc>
              <a:spcBef>
                <a:spcPts val="0"/>
              </a:spcBef>
              <a:spcAft>
                <a:spcPts val="0"/>
              </a:spcAft>
              <a:buNone/>
            </a:pPr>
            <a:r>
              <a:rPr b="1" i="0" lang="fr" sz="1400" u="none" cap="none" strike="noStrike">
                <a:solidFill>
                  <a:srgbClr val="FFFFFF"/>
                </a:solidFill>
                <a:latin typeface="Arial"/>
                <a:ea typeface="Arial"/>
                <a:cs typeface="Arial"/>
                <a:sym typeface="Arial"/>
              </a:rPr>
              <a:t>CHEF D’EQUIPE 3</a:t>
            </a:r>
            <a:endParaRPr b="0" i="0" sz="1400" u="none" cap="none" strike="noStrike">
              <a:solidFill>
                <a:srgbClr val="000000"/>
              </a:solidFill>
              <a:latin typeface="Arial"/>
              <a:ea typeface="Arial"/>
              <a:cs typeface="Arial"/>
              <a:sym typeface="Arial"/>
            </a:endParaRPr>
          </a:p>
        </p:txBody>
      </p:sp>
      <p:sp>
        <p:nvSpPr>
          <p:cNvPr id="115" name="Google Shape;115;p17"/>
          <p:cNvSpPr txBox="1"/>
          <p:nvPr/>
        </p:nvSpPr>
        <p:spPr>
          <a:xfrm>
            <a:off x="6655981" y="2743005"/>
            <a:ext cx="1839595" cy="755015"/>
          </a:xfrm>
          <a:prstGeom prst="rect">
            <a:avLst/>
          </a:prstGeom>
          <a:solidFill>
            <a:srgbClr val="00B050"/>
          </a:solidFill>
          <a:ln cap="flat" cmpd="sng" w="25375">
            <a:solidFill>
              <a:srgbClr val="685E14"/>
            </a:solidFill>
            <a:prstDash val="solid"/>
            <a:round/>
            <a:headEnd len="sm" w="sm" type="none"/>
            <a:tailEnd len="sm" w="sm" type="none"/>
          </a:ln>
        </p:spPr>
        <p:txBody>
          <a:bodyPr anchorCtr="0" anchor="t" bIns="0" lIns="0" spcFirstLastPara="1" rIns="0" wrap="square" tIns="5905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Times New Roman"/>
              <a:ea typeface="Times New Roman"/>
              <a:cs typeface="Times New Roman"/>
              <a:sym typeface="Times New Roman"/>
            </a:endParaRPr>
          </a:p>
          <a:p>
            <a:pPr indent="0" lvl="0" marL="346710" marR="0" rtl="0" algn="l">
              <a:lnSpc>
                <a:spcPct val="100000"/>
              </a:lnSpc>
              <a:spcBef>
                <a:spcPts val="0"/>
              </a:spcBef>
              <a:spcAft>
                <a:spcPts val="0"/>
              </a:spcAft>
              <a:buNone/>
            </a:pPr>
            <a:r>
              <a:rPr b="1" i="0" lang="fr" sz="1400" u="none" cap="none" strike="noStrike">
                <a:solidFill>
                  <a:srgbClr val="FFFFFF"/>
                </a:solidFill>
                <a:latin typeface="Arial"/>
                <a:ea typeface="Arial"/>
                <a:cs typeface="Arial"/>
                <a:sym typeface="Arial"/>
              </a:rPr>
              <a:t>INSPECTEUR</a:t>
            </a:r>
            <a:endParaRPr b="0" i="0" sz="1400" u="none" cap="none" strike="noStrike">
              <a:solidFill>
                <a:srgbClr val="000000"/>
              </a:solidFill>
              <a:latin typeface="Arial"/>
              <a:ea typeface="Arial"/>
              <a:cs typeface="Arial"/>
              <a:sym typeface="Arial"/>
            </a:endParaRPr>
          </a:p>
        </p:txBody>
      </p:sp>
      <p:sp>
        <p:nvSpPr>
          <p:cNvPr id="116" name="Google Shape;116;p17"/>
          <p:cNvSpPr txBox="1"/>
          <p:nvPr/>
        </p:nvSpPr>
        <p:spPr>
          <a:xfrm>
            <a:off x="4450596" y="1839047"/>
            <a:ext cx="2571750" cy="755015"/>
          </a:xfrm>
          <a:prstGeom prst="rect">
            <a:avLst/>
          </a:prstGeom>
          <a:solidFill>
            <a:srgbClr val="FF870F"/>
          </a:solidFill>
          <a:ln cap="flat" cmpd="sng" w="25375">
            <a:solidFill>
              <a:srgbClr val="685E14"/>
            </a:solidFill>
            <a:prstDash val="solid"/>
            <a:round/>
            <a:headEnd len="sm" w="sm" type="none"/>
            <a:tailEnd len="sm" w="sm" type="none"/>
          </a:ln>
        </p:spPr>
        <p:txBody>
          <a:bodyPr anchorCtr="0" anchor="t" bIns="0" lIns="0" spcFirstLastPara="1" rIns="0" wrap="square" tIns="156825">
            <a:spAutoFit/>
          </a:bodyPr>
          <a:lstStyle/>
          <a:p>
            <a:pPr indent="-772159" lvl="0" marL="1104265" marR="327025" rtl="0" algn="l">
              <a:lnSpc>
                <a:spcPct val="100000"/>
              </a:lnSpc>
              <a:spcBef>
                <a:spcPts val="0"/>
              </a:spcBef>
              <a:spcAft>
                <a:spcPts val="0"/>
              </a:spcAft>
              <a:buNone/>
            </a:pPr>
            <a:r>
              <a:rPr b="1" i="0" lang="fr" sz="1400" u="none" cap="none" strike="noStrike">
                <a:solidFill>
                  <a:srgbClr val="FFFFFF"/>
                </a:solidFill>
                <a:latin typeface="Arial"/>
                <a:ea typeface="Arial"/>
                <a:cs typeface="Arial"/>
                <a:sym typeface="Arial"/>
              </a:rPr>
              <a:t>RESPONSABLE VILLE (RV)</a:t>
            </a:r>
            <a:endParaRPr b="0" i="0" sz="1400" u="none" cap="none" strike="noStrike">
              <a:solidFill>
                <a:srgbClr val="000000"/>
              </a:solidFill>
              <a:latin typeface="Arial"/>
              <a:ea typeface="Arial"/>
              <a:cs typeface="Arial"/>
              <a:sym typeface="Arial"/>
            </a:endParaRPr>
          </a:p>
        </p:txBody>
      </p:sp>
      <p:sp>
        <p:nvSpPr>
          <p:cNvPr id="117" name="Google Shape;117;p17"/>
          <p:cNvSpPr txBox="1"/>
          <p:nvPr/>
        </p:nvSpPr>
        <p:spPr>
          <a:xfrm>
            <a:off x="1216571" y="3592353"/>
            <a:ext cx="1839595" cy="882650"/>
          </a:xfrm>
          <a:prstGeom prst="rect">
            <a:avLst/>
          </a:prstGeom>
          <a:solidFill>
            <a:srgbClr val="FAE034"/>
          </a:solidFill>
          <a:ln cap="flat" cmpd="sng" w="25375">
            <a:solidFill>
              <a:srgbClr val="685E14"/>
            </a:solidFill>
            <a:prstDash val="solid"/>
            <a:round/>
            <a:headEnd len="sm" w="sm" type="none"/>
            <a:tailEnd len="sm" w="sm" type="none"/>
          </a:ln>
        </p:spPr>
        <p:txBody>
          <a:bodyPr anchorCtr="0" anchor="t" bIns="0" lIns="0" spcFirstLastPara="1" rIns="0" wrap="square" tIns="104775">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Times New Roman"/>
              <a:ea typeface="Times New Roman"/>
              <a:cs typeface="Times New Roman"/>
              <a:sym typeface="Times New Roman"/>
            </a:endParaRPr>
          </a:p>
          <a:p>
            <a:pPr indent="0" lvl="0" marL="154305" marR="0" rtl="0" algn="l">
              <a:lnSpc>
                <a:spcPct val="100000"/>
              </a:lnSpc>
              <a:spcBef>
                <a:spcPts val="5"/>
              </a:spcBef>
              <a:spcAft>
                <a:spcPts val="0"/>
              </a:spcAft>
              <a:buNone/>
            </a:pPr>
            <a:r>
              <a:rPr b="1" i="0" lang="fr" sz="1400" u="none" cap="none" strike="noStrike">
                <a:solidFill>
                  <a:srgbClr val="FFFFFF"/>
                </a:solidFill>
                <a:latin typeface="Arial"/>
                <a:ea typeface="Arial"/>
                <a:cs typeface="Arial"/>
                <a:sym typeface="Arial"/>
              </a:rPr>
              <a:t>CHEF D’EQUIPE 1</a:t>
            </a:r>
            <a:endParaRPr b="0" i="0" sz="1400" u="none" cap="none" strike="noStrike">
              <a:solidFill>
                <a:srgbClr val="000000"/>
              </a:solidFill>
              <a:latin typeface="Arial"/>
              <a:ea typeface="Arial"/>
              <a:cs typeface="Arial"/>
              <a:sym typeface="Arial"/>
            </a:endParaRPr>
          </a:p>
        </p:txBody>
      </p:sp>
      <p:grpSp>
        <p:nvGrpSpPr>
          <p:cNvPr id="118" name="Google Shape;118;p17"/>
          <p:cNvGrpSpPr/>
          <p:nvPr/>
        </p:nvGrpSpPr>
        <p:grpSpPr>
          <a:xfrm>
            <a:off x="5720514" y="2593846"/>
            <a:ext cx="922216" cy="995865"/>
            <a:chOff x="5720514" y="2593846"/>
            <a:chExt cx="922216" cy="995865"/>
          </a:xfrm>
        </p:grpSpPr>
        <p:sp>
          <p:nvSpPr>
            <p:cNvPr id="119" name="Google Shape;119;p17"/>
            <p:cNvSpPr/>
            <p:nvPr/>
          </p:nvSpPr>
          <p:spPr>
            <a:xfrm>
              <a:off x="5736265" y="3098474"/>
              <a:ext cx="862965" cy="0"/>
            </a:xfrm>
            <a:custGeom>
              <a:rect b="b" l="l" r="r" t="t"/>
              <a:pathLst>
                <a:path extrusionOk="0" h="120000" w="862965">
                  <a:moveTo>
                    <a:pt x="0" y="0"/>
                  </a:moveTo>
                  <a:lnTo>
                    <a:pt x="86264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 name="Google Shape;120;p17"/>
            <p:cNvSpPr/>
            <p:nvPr/>
          </p:nvSpPr>
          <p:spPr>
            <a:xfrm>
              <a:off x="6598915" y="3082742"/>
              <a:ext cx="43815" cy="31750"/>
            </a:xfrm>
            <a:custGeom>
              <a:rect b="b" l="l" r="r" t="t"/>
              <a:pathLst>
                <a:path extrusionOk="0" h="31750" w="43815">
                  <a:moveTo>
                    <a:pt x="0" y="31465"/>
                  </a:moveTo>
                  <a:lnTo>
                    <a:pt x="0" y="0"/>
                  </a:lnTo>
                  <a:lnTo>
                    <a:pt x="43224" y="15732"/>
                  </a:lnTo>
                  <a:lnTo>
                    <a:pt x="0" y="3146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17"/>
            <p:cNvSpPr/>
            <p:nvPr/>
          </p:nvSpPr>
          <p:spPr>
            <a:xfrm>
              <a:off x="6598915" y="3082742"/>
              <a:ext cx="43815" cy="31750"/>
            </a:xfrm>
            <a:custGeom>
              <a:rect b="b" l="l" r="r" t="t"/>
              <a:pathLst>
                <a:path extrusionOk="0" h="31750" w="43815">
                  <a:moveTo>
                    <a:pt x="0" y="31465"/>
                  </a:moveTo>
                  <a:lnTo>
                    <a:pt x="43224" y="15732"/>
                  </a:lnTo>
                  <a:lnTo>
                    <a:pt x="0" y="0"/>
                  </a:lnTo>
                  <a:lnTo>
                    <a:pt x="0" y="3146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 name="Google Shape;122;p17"/>
            <p:cNvSpPr/>
            <p:nvPr/>
          </p:nvSpPr>
          <p:spPr>
            <a:xfrm>
              <a:off x="5736247" y="2593846"/>
              <a:ext cx="0" cy="952500"/>
            </a:xfrm>
            <a:custGeom>
              <a:rect b="b" l="l" r="r" t="t"/>
              <a:pathLst>
                <a:path extrusionOk="0" h="952500" w="120000">
                  <a:moveTo>
                    <a:pt x="0" y="0"/>
                  </a:moveTo>
                  <a:lnTo>
                    <a:pt x="0" y="95204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17"/>
            <p:cNvSpPr/>
            <p:nvPr/>
          </p:nvSpPr>
          <p:spPr>
            <a:xfrm>
              <a:off x="5720514" y="3545896"/>
              <a:ext cx="31750" cy="43815"/>
            </a:xfrm>
            <a:custGeom>
              <a:rect b="b" l="l" r="r" t="t"/>
              <a:pathLst>
                <a:path extrusionOk="0" h="43814" w="31750">
                  <a:moveTo>
                    <a:pt x="15732" y="43225"/>
                  </a:moveTo>
                  <a:lnTo>
                    <a:pt x="0" y="0"/>
                  </a:lnTo>
                  <a:lnTo>
                    <a:pt x="31465" y="0"/>
                  </a:lnTo>
                  <a:lnTo>
                    <a:pt x="15732" y="4322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17"/>
            <p:cNvSpPr/>
            <p:nvPr/>
          </p:nvSpPr>
          <p:spPr>
            <a:xfrm>
              <a:off x="5720514" y="3545896"/>
              <a:ext cx="31750" cy="43815"/>
            </a:xfrm>
            <a:custGeom>
              <a:rect b="b" l="l" r="r" t="t"/>
              <a:pathLst>
                <a:path extrusionOk="0" h="43814" w="31750">
                  <a:moveTo>
                    <a:pt x="0" y="0"/>
                  </a:moveTo>
                  <a:lnTo>
                    <a:pt x="15732" y="43225"/>
                  </a:lnTo>
                  <a:lnTo>
                    <a:pt x="31465"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25" name="Google Shape;125;p17"/>
          <p:cNvGrpSpPr/>
          <p:nvPr/>
        </p:nvGrpSpPr>
        <p:grpSpPr>
          <a:xfrm>
            <a:off x="2120489" y="4457222"/>
            <a:ext cx="31750" cy="229365"/>
            <a:chOff x="2120489" y="4457222"/>
            <a:chExt cx="31750" cy="229365"/>
          </a:xfrm>
        </p:grpSpPr>
        <p:sp>
          <p:nvSpPr>
            <p:cNvPr id="126" name="Google Shape;126;p17"/>
            <p:cNvSpPr/>
            <p:nvPr/>
          </p:nvSpPr>
          <p:spPr>
            <a:xfrm>
              <a:off x="2136221" y="4457222"/>
              <a:ext cx="0" cy="186055"/>
            </a:xfrm>
            <a:custGeom>
              <a:rect b="b" l="l" r="r" t="t"/>
              <a:pathLst>
                <a:path extrusionOk="0" h="186054" w="120000">
                  <a:moveTo>
                    <a:pt x="0" y="0"/>
                  </a:moveTo>
                  <a:lnTo>
                    <a:pt x="0" y="18554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7" name="Google Shape;127;p17"/>
            <p:cNvSpPr/>
            <p:nvPr/>
          </p:nvSpPr>
          <p:spPr>
            <a:xfrm>
              <a:off x="2120489" y="4642772"/>
              <a:ext cx="31750" cy="43815"/>
            </a:xfrm>
            <a:custGeom>
              <a:rect b="b" l="l" r="r" t="t"/>
              <a:pathLst>
                <a:path extrusionOk="0" h="43814" w="31750">
                  <a:moveTo>
                    <a:pt x="15732" y="43225"/>
                  </a:moveTo>
                  <a:lnTo>
                    <a:pt x="0" y="0"/>
                  </a:lnTo>
                  <a:lnTo>
                    <a:pt x="31465" y="0"/>
                  </a:lnTo>
                  <a:lnTo>
                    <a:pt x="15732" y="4322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 name="Google Shape;128;p17"/>
            <p:cNvSpPr/>
            <p:nvPr/>
          </p:nvSpPr>
          <p:spPr>
            <a:xfrm>
              <a:off x="2120489" y="4642772"/>
              <a:ext cx="31750" cy="43815"/>
            </a:xfrm>
            <a:custGeom>
              <a:rect b="b" l="l" r="r" t="t"/>
              <a:pathLst>
                <a:path extrusionOk="0" h="43814" w="31750">
                  <a:moveTo>
                    <a:pt x="0" y="0"/>
                  </a:moveTo>
                  <a:lnTo>
                    <a:pt x="15732" y="43225"/>
                  </a:lnTo>
                  <a:lnTo>
                    <a:pt x="31465"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29" name="Google Shape;129;p17"/>
          <p:cNvGrpSpPr/>
          <p:nvPr/>
        </p:nvGrpSpPr>
        <p:grpSpPr>
          <a:xfrm>
            <a:off x="5720465" y="4485592"/>
            <a:ext cx="31750" cy="201165"/>
            <a:chOff x="5720465" y="4485592"/>
            <a:chExt cx="31750" cy="201165"/>
          </a:xfrm>
        </p:grpSpPr>
        <p:sp>
          <p:nvSpPr>
            <p:cNvPr id="130" name="Google Shape;130;p17"/>
            <p:cNvSpPr/>
            <p:nvPr/>
          </p:nvSpPr>
          <p:spPr>
            <a:xfrm>
              <a:off x="5736198" y="4485592"/>
              <a:ext cx="0" cy="157480"/>
            </a:xfrm>
            <a:custGeom>
              <a:rect b="b" l="l" r="r" t="t"/>
              <a:pathLst>
                <a:path extrusionOk="0" h="157479" w="120000">
                  <a:moveTo>
                    <a:pt x="0" y="0"/>
                  </a:moveTo>
                  <a:lnTo>
                    <a:pt x="0" y="15734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1" name="Google Shape;131;p17"/>
            <p:cNvSpPr/>
            <p:nvPr/>
          </p:nvSpPr>
          <p:spPr>
            <a:xfrm>
              <a:off x="5720465" y="4642942"/>
              <a:ext cx="31750" cy="43815"/>
            </a:xfrm>
            <a:custGeom>
              <a:rect b="b" l="l" r="r" t="t"/>
              <a:pathLst>
                <a:path extrusionOk="0" h="43814" w="31750">
                  <a:moveTo>
                    <a:pt x="15732" y="43225"/>
                  </a:moveTo>
                  <a:lnTo>
                    <a:pt x="0" y="0"/>
                  </a:lnTo>
                  <a:lnTo>
                    <a:pt x="31465" y="0"/>
                  </a:lnTo>
                  <a:lnTo>
                    <a:pt x="15732" y="4322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2" name="Google Shape;132;p17"/>
            <p:cNvSpPr/>
            <p:nvPr/>
          </p:nvSpPr>
          <p:spPr>
            <a:xfrm>
              <a:off x="5720465" y="4642942"/>
              <a:ext cx="31750" cy="43815"/>
            </a:xfrm>
            <a:custGeom>
              <a:rect b="b" l="l" r="r" t="t"/>
              <a:pathLst>
                <a:path extrusionOk="0" h="43814" w="31750">
                  <a:moveTo>
                    <a:pt x="0" y="0"/>
                  </a:moveTo>
                  <a:lnTo>
                    <a:pt x="15732" y="43225"/>
                  </a:lnTo>
                  <a:lnTo>
                    <a:pt x="31465"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33" name="Google Shape;133;p17"/>
          <p:cNvGrpSpPr/>
          <p:nvPr/>
        </p:nvGrpSpPr>
        <p:grpSpPr>
          <a:xfrm>
            <a:off x="9497565" y="4485590"/>
            <a:ext cx="31750" cy="201165"/>
            <a:chOff x="9497565" y="4485590"/>
            <a:chExt cx="31750" cy="201165"/>
          </a:xfrm>
        </p:grpSpPr>
        <p:sp>
          <p:nvSpPr>
            <p:cNvPr id="134" name="Google Shape;134;p17"/>
            <p:cNvSpPr/>
            <p:nvPr/>
          </p:nvSpPr>
          <p:spPr>
            <a:xfrm>
              <a:off x="9513297" y="4485590"/>
              <a:ext cx="0" cy="157480"/>
            </a:xfrm>
            <a:custGeom>
              <a:rect b="b" l="l" r="r" t="t"/>
              <a:pathLst>
                <a:path extrusionOk="0" h="157479" w="120000">
                  <a:moveTo>
                    <a:pt x="0" y="0"/>
                  </a:moveTo>
                  <a:lnTo>
                    <a:pt x="0" y="15734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 name="Google Shape;135;p17"/>
            <p:cNvSpPr/>
            <p:nvPr/>
          </p:nvSpPr>
          <p:spPr>
            <a:xfrm>
              <a:off x="9497565" y="4642940"/>
              <a:ext cx="31750" cy="43815"/>
            </a:xfrm>
            <a:custGeom>
              <a:rect b="b" l="l" r="r" t="t"/>
              <a:pathLst>
                <a:path extrusionOk="0" h="43814" w="31750">
                  <a:moveTo>
                    <a:pt x="15732" y="43225"/>
                  </a:moveTo>
                  <a:lnTo>
                    <a:pt x="0" y="0"/>
                  </a:lnTo>
                  <a:lnTo>
                    <a:pt x="31465" y="0"/>
                  </a:lnTo>
                  <a:lnTo>
                    <a:pt x="15732" y="4322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17"/>
            <p:cNvSpPr/>
            <p:nvPr/>
          </p:nvSpPr>
          <p:spPr>
            <a:xfrm>
              <a:off x="9497565" y="4642940"/>
              <a:ext cx="31750" cy="43815"/>
            </a:xfrm>
            <a:custGeom>
              <a:rect b="b" l="l" r="r" t="t"/>
              <a:pathLst>
                <a:path extrusionOk="0" h="43814" w="31750">
                  <a:moveTo>
                    <a:pt x="0" y="0"/>
                  </a:moveTo>
                  <a:lnTo>
                    <a:pt x="15732" y="43225"/>
                  </a:lnTo>
                  <a:lnTo>
                    <a:pt x="31465"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37" name="Google Shape;137;p17"/>
          <p:cNvSpPr/>
          <p:nvPr/>
        </p:nvSpPr>
        <p:spPr>
          <a:xfrm>
            <a:off x="3055872" y="4011421"/>
            <a:ext cx="1760855" cy="5080"/>
          </a:xfrm>
          <a:custGeom>
            <a:rect b="b" l="l" r="r" t="t"/>
            <a:pathLst>
              <a:path extrusionOk="0" h="5079" w="1760854">
                <a:moveTo>
                  <a:pt x="0" y="4499"/>
                </a:moveTo>
                <a:lnTo>
                  <a:pt x="176039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 name="Google Shape;138;p17"/>
          <p:cNvSpPr/>
          <p:nvPr/>
        </p:nvSpPr>
        <p:spPr>
          <a:xfrm>
            <a:off x="6655849" y="4044292"/>
            <a:ext cx="1938020" cy="0"/>
          </a:xfrm>
          <a:custGeom>
            <a:rect b="b" l="l" r="r" t="t"/>
            <a:pathLst>
              <a:path extrusionOk="0" h="120000" w="1938020">
                <a:moveTo>
                  <a:pt x="0" y="0"/>
                </a:moveTo>
                <a:lnTo>
                  <a:pt x="193769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17"/>
          <p:cNvSpPr txBox="1"/>
          <p:nvPr/>
        </p:nvSpPr>
        <p:spPr>
          <a:xfrm>
            <a:off x="383780" y="2067548"/>
            <a:ext cx="3683000" cy="516255"/>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b="0" i="0" lang="fr" sz="1400" u="none" cap="none" strike="noStrike">
                <a:solidFill>
                  <a:srgbClr val="000000"/>
                </a:solidFill>
                <a:latin typeface="Arial"/>
                <a:ea typeface="Arial"/>
                <a:cs typeface="Arial"/>
                <a:sym typeface="Arial"/>
              </a:rPr>
              <a:t>2- Les agents retenus (en fonction des villes) seront regroupés en équipe</a:t>
            </a:r>
            <a:r>
              <a:rPr b="1" i="0" lang="f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40" name="Google Shape;140;p17"/>
          <p:cNvSpPr txBox="1"/>
          <p:nvPr/>
        </p:nvSpPr>
        <p:spPr>
          <a:xfrm>
            <a:off x="383780" y="2558277"/>
            <a:ext cx="3664585" cy="516255"/>
          </a:xfrm>
          <a:prstGeom prst="rect">
            <a:avLst/>
          </a:prstGeom>
          <a:noFill/>
          <a:ln>
            <a:noFill/>
          </a:ln>
        </p:spPr>
        <p:txBody>
          <a:bodyPr anchorCtr="0" anchor="t" bIns="0" lIns="0" spcFirstLastPara="1" rIns="0" wrap="square" tIns="12700">
            <a:spAutoFit/>
          </a:bodyPr>
          <a:lstStyle/>
          <a:p>
            <a:pPr indent="-180975" lvl="0" marL="193675" marR="5080" rtl="0" algn="l">
              <a:lnSpc>
                <a:spcPct val="114999"/>
              </a:lnSpc>
              <a:spcBef>
                <a:spcPts val="0"/>
              </a:spcBef>
              <a:spcAft>
                <a:spcPts val="0"/>
              </a:spcAft>
              <a:buClr>
                <a:srgbClr val="000000"/>
              </a:buClr>
              <a:buSzPts val="1300"/>
              <a:buFont typeface="MS PGothic"/>
              <a:buChar char="✓"/>
            </a:pPr>
            <a:r>
              <a:rPr b="0" i="0" lang="fr" sz="1400" u="none" cap="none" strike="noStrike">
                <a:solidFill>
                  <a:srgbClr val="000000"/>
                </a:solidFill>
                <a:latin typeface="Arial"/>
                <a:ea typeface="Arial"/>
                <a:cs typeface="Arial"/>
                <a:sym typeface="Arial"/>
              </a:rPr>
              <a:t>Chaque équipe sera composée d’un </a:t>
            </a:r>
            <a:r>
              <a:rPr b="1" i="0" lang="fr" sz="1400" u="none" cap="none" strike="noStrike">
                <a:solidFill>
                  <a:srgbClr val="000000"/>
                </a:solidFill>
                <a:latin typeface="Arial"/>
                <a:ea typeface="Arial"/>
                <a:cs typeface="Arial"/>
                <a:sym typeface="Arial"/>
              </a:rPr>
              <a:t>chef de groupe </a:t>
            </a:r>
            <a:r>
              <a:rPr b="0" i="0" lang="fr" sz="1400" u="none" cap="none" strike="noStrike">
                <a:solidFill>
                  <a:srgbClr val="000000"/>
                </a:solidFill>
                <a:latin typeface="Arial"/>
                <a:ea typeface="Arial"/>
                <a:cs typeface="Arial"/>
                <a:sym typeface="Arial"/>
              </a:rPr>
              <a:t>et de neuf agents soit 10 agents.</a:t>
            </a:r>
            <a:endParaRPr b="0" i="0" sz="1400" u="none" cap="none" strike="noStrike">
              <a:solidFill>
                <a:srgbClr val="000000"/>
              </a:solidFill>
              <a:latin typeface="Arial"/>
              <a:ea typeface="Arial"/>
              <a:cs typeface="Arial"/>
              <a:sym typeface="Arial"/>
            </a:endParaRPr>
          </a:p>
        </p:txBody>
      </p:sp>
      <p:sp>
        <p:nvSpPr>
          <p:cNvPr id="141" name="Google Shape;141;p17"/>
          <p:cNvSpPr txBox="1"/>
          <p:nvPr/>
        </p:nvSpPr>
        <p:spPr>
          <a:xfrm>
            <a:off x="4015295" y="4880117"/>
            <a:ext cx="3796665" cy="762000"/>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0"/>
              </a:spcBef>
              <a:spcAft>
                <a:spcPts val="0"/>
              </a:spcAft>
              <a:buNone/>
            </a:pPr>
            <a:r>
              <a:rPr b="0" i="0" lang="fr" sz="1400" u="none" cap="none" strike="noStrike">
                <a:solidFill>
                  <a:srgbClr val="000000"/>
                </a:solidFill>
                <a:latin typeface="Arial"/>
                <a:ea typeface="Arial"/>
                <a:cs typeface="Arial"/>
                <a:sym typeface="Arial"/>
              </a:rPr>
              <a:t>3- Les équipes </a:t>
            </a:r>
            <a:r>
              <a:rPr b="1" i="0" lang="fr" sz="1400" u="none" cap="none" strike="noStrike">
                <a:solidFill>
                  <a:srgbClr val="000000"/>
                </a:solidFill>
                <a:latin typeface="Arial"/>
                <a:ea typeface="Arial"/>
                <a:cs typeface="Arial"/>
                <a:sym typeface="Arial"/>
              </a:rPr>
              <a:t>sillonnent ensemble </a:t>
            </a:r>
            <a:r>
              <a:rPr b="0" i="0" lang="fr" sz="1400" u="none" cap="none" strike="noStrike">
                <a:solidFill>
                  <a:srgbClr val="000000"/>
                </a:solidFill>
                <a:latin typeface="Arial"/>
                <a:ea typeface="Arial"/>
                <a:cs typeface="Arial"/>
                <a:sym typeface="Arial"/>
              </a:rPr>
              <a:t>les îlots afin d’éviter de grandes dispersions et assurer un meilleur encadrement.</a:t>
            </a:r>
            <a:endParaRPr b="0" i="0" sz="1400" u="none" cap="none" strike="noStrike">
              <a:solidFill>
                <a:srgbClr val="000000"/>
              </a:solidFill>
              <a:latin typeface="Arial"/>
              <a:ea typeface="Arial"/>
              <a:cs typeface="Arial"/>
              <a:sym typeface="Arial"/>
            </a:endParaRPr>
          </a:p>
        </p:txBody>
      </p:sp>
      <p:sp>
        <p:nvSpPr>
          <p:cNvPr id="142" name="Google Shape;142;p17"/>
          <p:cNvSpPr txBox="1"/>
          <p:nvPr/>
        </p:nvSpPr>
        <p:spPr>
          <a:xfrm>
            <a:off x="7246379" y="1040888"/>
            <a:ext cx="4860002" cy="1751698"/>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0"/>
              </a:spcBef>
              <a:spcAft>
                <a:spcPts val="0"/>
              </a:spcAft>
              <a:buNone/>
            </a:pPr>
            <a:r>
              <a:rPr b="0" i="0" lang="fr" sz="1400" u="none" cap="none" strike="noStrike">
                <a:solidFill>
                  <a:srgbClr val="000000"/>
                </a:solidFill>
                <a:latin typeface="Arial"/>
                <a:ea typeface="Arial"/>
                <a:cs typeface="Arial"/>
                <a:sym typeface="Arial"/>
              </a:rPr>
              <a:t>1- Avant de commencer le travail, la reconnaissance de la zone de dénombrement est réalisée avec le responsable de ville et les différents chef de groupe qui ensuite attribueront à chaque agent des ilots . </a:t>
            </a:r>
            <a:endParaRPr/>
          </a:p>
          <a:p>
            <a:pPr indent="0" lvl="0" marL="12700" marR="5080" rtl="0" algn="just">
              <a:lnSpc>
                <a:spcPct val="114999"/>
              </a:lnSpc>
              <a:spcBef>
                <a:spcPts val="100"/>
              </a:spcBef>
              <a:spcAft>
                <a:spcPts val="0"/>
              </a:spcAft>
              <a:buNone/>
            </a:pPr>
            <a:r>
              <a:rPr b="0" i="0" lang="fr" sz="1400" u="none" cap="none" strike="noStrike">
                <a:solidFill>
                  <a:srgbClr val="000000"/>
                </a:solidFill>
                <a:latin typeface="Arial"/>
                <a:ea typeface="Arial"/>
                <a:cs typeface="Arial"/>
                <a:sym typeface="Arial"/>
              </a:rPr>
              <a:t>L’agent évolue îlot par îlot et bâtiment par bâtiment à l’intérieur de la ZD</a:t>
            </a:r>
            <a:endParaRPr b="0" i="0" sz="1400" u="none" cap="none" strike="noStrike">
              <a:solidFill>
                <a:srgbClr val="000000"/>
              </a:solidFill>
              <a:latin typeface="Arial"/>
              <a:ea typeface="Arial"/>
              <a:cs typeface="Arial"/>
              <a:sym typeface="Arial"/>
            </a:endParaRPr>
          </a:p>
          <a:p>
            <a:pPr indent="0" lvl="0" marL="12700" marR="5080" rtl="0" algn="just">
              <a:lnSpc>
                <a:spcPct val="114999"/>
              </a:lnSpc>
              <a:spcBef>
                <a:spcPts val="100"/>
              </a:spcBef>
              <a:spcAft>
                <a:spcPts val="0"/>
              </a:spcAft>
              <a:buNone/>
            </a:pPr>
            <a:r>
              <a:rPr b="0" i="0" lang="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43" name="Google Shape;143;p17"/>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144" name="Google Shape;144;p17"/>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1c93bde984_0_8"/>
          <p:cNvSpPr txBox="1"/>
          <p:nvPr>
            <p:ph type="title"/>
          </p:nvPr>
        </p:nvSpPr>
        <p:spPr>
          <a:xfrm>
            <a:off x="0" y="3435"/>
            <a:ext cx="12141300" cy="821400"/>
          </a:xfrm>
          <a:prstGeom prst="rect">
            <a:avLst/>
          </a:prstGeom>
          <a:noFill/>
          <a:ln>
            <a:noFill/>
          </a:ln>
        </p:spPr>
        <p:txBody>
          <a:bodyPr anchorCtr="0" anchor="t" bIns="0" lIns="0" spcFirstLastPara="1" rIns="0" wrap="square" tIns="310475">
            <a:spAutoFit/>
          </a:bodyPr>
          <a:lstStyle/>
          <a:p>
            <a:pPr indent="0" lvl="0" marL="61593" rtl="0" algn="l">
              <a:lnSpc>
                <a:spcPct val="100000"/>
              </a:lnSpc>
              <a:spcBef>
                <a:spcPts val="100"/>
              </a:spcBef>
              <a:spcAft>
                <a:spcPts val="0"/>
              </a:spcAft>
              <a:buSzPts val="1400"/>
              <a:buNone/>
            </a:pPr>
            <a:r>
              <a:rPr lang="fr"/>
              <a:t>Contrôle et suivi des travaux</a:t>
            </a:r>
            <a:endParaRPr/>
          </a:p>
        </p:txBody>
      </p:sp>
      <p:sp>
        <p:nvSpPr>
          <p:cNvPr id="150" name="Google Shape;150;g31c93bde984_0_8"/>
          <p:cNvSpPr txBox="1"/>
          <p:nvPr/>
        </p:nvSpPr>
        <p:spPr>
          <a:xfrm>
            <a:off x="597718" y="1572594"/>
            <a:ext cx="11492100" cy="3688500"/>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b="0" i="0" lang="fr" sz="1600" u="none" cap="none" strike="noStrike">
                <a:solidFill>
                  <a:srgbClr val="000000"/>
                </a:solidFill>
                <a:latin typeface="Arial"/>
                <a:ea typeface="Arial"/>
                <a:cs typeface="Arial"/>
                <a:sym typeface="Arial"/>
              </a:rPr>
              <a:t>La vérification et la validation des données se feront aussi bien par le personnel de terrain, les encadreurs, que par les autorités administrative. Les différents contrôles et suivis des travaux de terrain se résument comme suit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None/>
            </a:pPr>
            <a:r>
              <a:t/>
            </a:r>
            <a:endParaRPr b="0" i="0" sz="1600" u="none" cap="none" strike="noStrike">
              <a:solidFill>
                <a:srgbClr val="000000"/>
              </a:solidFill>
              <a:latin typeface="Arial"/>
              <a:ea typeface="Arial"/>
              <a:cs typeface="Arial"/>
              <a:sym typeface="Arial"/>
            </a:endParaRPr>
          </a:p>
          <a:p>
            <a:pPr indent="-225425" lvl="0" marL="237490" marR="323215" rtl="0" algn="just">
              <a:lnSpc>
                <a:spcPct val="114999"/>
              </a:lnSpc>
              <a:spcBef>
                <a:spcPts val="0"/>
              </a:spcBef>
              <a:spcAft>
                <a:spcPts val="0"/>
              </a:spcAft>
              <a:buClr>
                <a:srgbClr val="000000"/>
              </a:buClr>
              <a:buSzPts val="1600"/>
              <a:buFont typeface="MS PGothic"/>
              <a:buChar char="✓"/>
            </a:pPr>
            <a:r>
              <a:rPr b="0" i="0" lang="fr" sz="1600" u="none" cap="none" strike="noStrike">
                <a:solidFill>
                  <a:srgbClr val="000000"/>
                </a:solidFill>
                <a:latin typeface="Arial"/>
                <a:ea typeface="Arial"/>
                <a:cs typeface="Arial"/>
                <a:sym typeface="Arial"/>
              </a:rPr>
              <a:t>	Les RV contrôlent régulièrement la qualité et l’exhaustivité des données collectées par les agents..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370"/>
              </a:spcBef>
              <a:spcAft>
                <a:spcPts val="0"/>
              </a:spcAft>
              <a:buClr>
                <a:srgbClr val="000000"/>
              </a:buClr>
              <a:buSzPts val="1600"/>
              <a:buFont typeface="MS PGothic"/>
              <a:buNone/>
            </a:pPr>
            <a:r>
              <a:t/>
            </a:r>
            <a:endParaRPr b="0" i="0" sz="1600" u="none" cap="none" strike="noStrike">
              <a:solidFill>
                <a:srgbClr val="000000"/>
              </a:solidFill>
              <a:latin typeface="Arial"/>
              <a:ea typeface="Arial"/>
              <a:cs typeface="Arial"/>
              <a:sym typeface="Arial"/>
            </a:endParaRPr>
          </a:p>
          <a:p>
            <a:pPr indent="-225425" lvl="0" marL="237490" marR="131445" rtl="0" algn="l">
              <a:lnSpc>
                <a:spcPct val="114999"/>
              </a:lnSpc>
              <a:spcBef>
                <a:spcPts val="0"/>
              </a:spcBef>
              <a:spcAft>
                <a:spcPts val="0"/>
              </a:spcAft>
              <a:buClr>
                <a:srgbClr val="000000"/>
              </a:buClr>
              <a:buSzPts val="1600"/>
              <a:buFont typeface="MS PGothic"/>
              <a:buChar char="✓"/>
            </a:pPr>
            <a:r>
              <a:rPr b="0" i="0" lang="fr" sz="1600" u="none" cap="none" strike="noStrike">
                <a:solidFill>
                  <a:srgbClr val="000000"/>
                </a:solidFill>
                <a:latin typeface="Arial"/>
                <a:ea typeface="Arial"/>
                <a:cs typeface="Arial"/>
                <a:sym typeface="Arial"/>
              </a:rPr>
              <a:t>	Le responsable de ville doit faire le suivi des activités de terrain et de contrôle de la qualité des données collectées, par des contre-enquêtes, des contrôles inopinés dans les localités et campements visités par ses équipes.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000000"/>
              </a:buClr>
              <a:buSzPts val="1600"/>
              <a:buFont typeface="MS PGothic"/>
              <a:buNone/>
            </a:pPr>
            <a:r>
              <a:t/>
            </a:r>
            <a:endParaRPr b="0" i="0" sz="1600" u="none" cap="none" strike="noStrike">
              <a:solidFill>
                <a:srgbClr val="000000"/>
              </a:solidFill>
              <a:latin typeface="Arial"/>
              <a:ea typeface="Arial"/>
              <a:cs typeface="Arial"/>
              <a:sym typeface="Arial"/>
            </a:endParaRPr>
          </a:p>
          <a:p>
            <a:pPr indent="-255903" lvl="0" marL="268603" marR="513715" rtl="0" algn="l">
              <a:lnSpc>
                <a:spcPct val="114999"/>
              </a:lnSpc>
              <a:spcBef>
                <a:spcPts val="5"/>
              </a:spcBef>
              <a:spcAft>
                <a:spcPts val="0"/>
              </a:spcAft>
              <a:buClr>
                <a:srgbClr val="000000"/>
              </a:buClr>
              <a:buSzPts val="1600"/>
              <a:buFont typeface="MS PGothic"/>
              <a:buChar char="✓"/>
            </a:pPr>
            <a:r>
              <a:rPr b="0" i="0" lang="fr" sz="1600" u="none" cap="none" strike="noStrike">
                <a:solidFill>
                  <a:srgbClr val="000000"/>
                </a:solidFill>
                <a:latin typeface="Arial"/>
                <a:ea typeface="Arial"/>
                <a:cs typeface="Arial"/>
                <a:sym typeface="Arial"/>
              </a:rPr>
              <a:t>Le responsable des opérations, la responsable qualité et la directrice des opérations effectueront des missions d’encadrement technique pour veiller au respect de la méthodologie du dénombrement, évalueront la qualité des données collectées et s’assureront du bon déroulement des activités de terrain</a:t>
            </a:r>
            <a:endParaRPr b="0" i="0" sz="1600" u="none" cap="none" strike="noStrike">
              <a:solidFill>
                <a:srgbClr val="000000"/>
              </a:solidFill>
              <a:latin typeface="Arial"/>
              <a:ea typeface="Arial"/>
              <a:cs typeface="Arial"/>
              <a:sym typeface="Arial"/>
            </a:endParaRPr>
          </a:p>
          <a:p>
            <a:pPr indent="0" lvl="0" marL="12700" marR="63500" rtl="0" algn="l">
              <a:lnSpc>
                <a:spcPct val="114999"/>
              </a:lnSpc>
              <a:spcBef>
                <a:spcPts val="0"/>
              </a:spcBef>
              <a:spcAft>
                <a:spcPts val="0"/>
              </a:spcAft>
              <a:buNone/>
            </a:pPr>
            <a:r>
              <a:rPr b="0" i="0" lang="fr" sz="1600" u="none" cap="none" strike="noStrike">
                <a:solidFill>
                  <a:srgbClr val="000000"/>
                </a:solidFill>
                <a:latin typeface="Arial"/>
                <a:ea typeface="Arial"/>
                <a:cs typeface="Arial"/>
                <a:sym typeface="Arial"/>
              </a:rPr>
              <a:t>Ils vérifieront quotidiennement l’exhaustivité de la couverture de la zone, et traiteront avec le responsable de ville les objections et situations complexes rencontrées par les équipes sur le terrain..</a:t>
            </a:r>
            <a:endParaRPr b="0" i="0" sz="1600" u="none" cap="none" strike="noStrike">
              <a:solidFill>
                <a:srgbClr val="000000"/>
              </a:solidFill>
              <a:latin typeface="Arial"/>
              <a:ea typeface="Arial"/>
              <a:cs typeface="Arial"/>
              <a:sym typeface="Arial"/>
            </a:endParaRPr>
          </a:p>
        </p:txBody>
      </p:sp>
      <p:pic>
        <p:nvPicPr>
          <p:cNvPr id="151" name="Google Shape;151;g31c93bde984_0_8"/>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152" name="Google Shape;152;g31c93bde984_0_8"/>
          <p:cNvPicPr preferRelativeResize="0"/>
          <p:nvPr/>
        </p:nvPicPr>
        <p:blipFill rotWithShape="1">
          <a:blip r:embed="rId3">
            <a:alphaModFix/>
          </a:blip>
          <a:srcRect b="0" l="0" r="0" t="0"/>
          <a:stretch/>
        </p:blipFill>
        <p:spPr>
          <a:xfrm>
            <a:off x="9577699" y="1"/>
            <a:ext cx="2553283" cy="715443"/>
          </a:xfrm>
          <a:prstGeom prst="rect">
            <a:avLst/>
          </a:prstGeom>
          <a:noFill/>
          <a:ln>
            <a:noFill/>
          </a:ln>
        </p:spPr>
      </p:pic>
      <p:sp>
        <p:nvSpPr>
          <p:cNvPr id="153" name="Google Shape;153;g31c93bde984_0_8"/>
          <p:cNvSpPr txBox="1"/>
          <p:nvPr>
            <p:ph idx="12" type="sldNum"/>
          </p:nvPr>
        </p:nvSpPr>
        <p:spPr>
          <a:xfrm>
            <a:off x="11833333" y="6415194"/>
            <a:ext cx="273000" cy="200100"/>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69"/>
          <p:cNvSpPr txBox="1"/>
          <p:nvPr>
            <p:ph type="title"/>
          </p:nvPr>
        </p:nvSpPr>
        <p:spPr>
          <a:xfrm>
            <a:off x="597718" y="913357"/>
            <a:ext cx="6233652"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GESTION OPERATIONNELLE</a:t>
            </a:r>
            <a:endParaRPr/>
          </a:p>
        </p:txBody>
      </p:sp>
      <p:pic>
        <p:nvPicPr>
          <p:cNvPr id="159" name="Google Shape;159;p69"/>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160" name="Google Shape;160;p69"/>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161" name="Google Shape;161;p69"/>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pic>
        <p:nvPicPr>
          <p:cNvPr descr="Une image contenant Graphique, logo, clipart, Police&#10;&#10;Description générée automatiquement" id="162" name="Google Shape;162;p69"/>
          <p:cNvPicPr preferRelativeResize="0"/>
          <p:nvPr/>
        </p:nvPicPr>
        <p:blipFill rotWithShape="1">
          <a:blip r:embed="rId4">
            <a:alphaModFix/>
          </a:blip>
          <a:srcRect b="28000" l="26444" r="26444" t="22963"/>
          <a:stretch/>
        </p:blipFill>
        <p:spPr>
          <a:xfrm>
            <a:off x="7623461" y="1747520"/>
            <a:ext cx="3230880" cy="3362960"/>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0"/>
          <p:cNvSpPr txBox="1"/>
          <p:nvPr>
            <p:ph type="title"/>
          </p:nvPr>
        </p:nvSpPr>
        <p:spPr>
          <a:xfrm>
            <a:off x="0" y="3435"/>
            <a:ext cx="12141200"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Planification &amp; organisation du travail</a:t>
            </a:r>
            <a:endParaRPr/>
          </a:p>
        </p:txBody>
      </p:sp>
      <p:sp>
        <p:nvSpPr>
          <p:cNvPr id="168" name="Google Shape;168;p70"/>
          <p:cNvSpPr txBox="1"/>
          <p:nvPr/>
        </p:nvSpPr>
        <p:spPr>
          <a:xfrm>
            <a:off x="324485" y="1678008"/>
            <a:ext cx="11492230" cy="3785139"/>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b="0" i="0" lang="fr" sz="1600" u="none" cap="none" strike="noStrike">
                <a:solidFill>
                  <a:srgbClr val="000000"/>
                </a:solidFill>
                <a:latin typeface="Arial"/>
                <a:ea typeface="Arial"/>
                <a:cs typeface="Arial"/>
                <a:sym typeface="Arial"/>
              </a:rPr>
              <a:t>La planification du travail se fera sous le contrôle du Responsable des opérations,</a:t>
            </a:r>
            <a:endParaRPr/>
          </a:p>
          <a:p>
            <a:pPr indent="0" lvl="0" marL="12700" marR="5080" rtl="0" algn="l">
              <a:lnSpc>
                <a:spcPct val="114999"/>
              </a:lnSpc>
              <a:spcBef>
                <a:spcPts val="100"/>
              </a:spcBef>
              <a:spcAft>
                <a:spcPts val="0"/>
              </a:spcAft>
              <a:buNone/>
            </a:pPr>
            <a:r>
              <a:rPr b="0" i="0" lang="fr" sz="1600" u="none" cap="none" strike="noStrike">
                <a:solidFill>
                  <a:srgbClr val="000000"/>
                </a:solidFill>
                <a:latin typeface="Arial"/>
                <a:ea typeface="Arial"/>
                <a:cs typeface="Arial"/>
                <a:sym typeface="Arial"/>
              </a:rPr>
              <a:t>Par ailleurs chaque RV devra organiser les briefs et les debriefs journaliers afin de remonter dans l’immédiat les difficultés rencontrées,</a:t>
            </a:r>
            <a:endParaRPr/>
          </a:p>
          <a:p>
            <a:pPr indent="0" lvl="0" marL="12700" marR="5080" rtl="0" algn="l">
              <a:lnSpc>
                <a:spcPct val="114999"/>
              </a:lnSpc>
              <a:spcBef>
                <a:spcPts val="100"/>
              </a:spcBef>
              <a:spcAft>
                <a:spcPts val="0"/>
              </a:spcAft>
              <a:buNone/>
            </a:pPr>
            <a:r>
              <a:rPr b="0" i="0" lang="fr" sz="1600" u="none" cap="none" strike="noStrike">
                <a:solidFill>
                  <a:srgbClr val="000000"/>
                </a:solidFill>
                <a:latin typeface="Arial"/>
                <a:ea typeface="Arial"/>
                <a:cs typeface="Arial"/>
                <a:sym typeface="Arial"/>
              </a:rPr>
              <a:t>Seront donc mis à disposition des supports tels des fichiers sheet permettant d’avoir une meilleure traçabilité.</a:t>
            </a:r>
            <a:endParaRPr/>
          </a:p>
          <a:p>
            <a:pPr indent="0" lvl="0" marL="12700" marR="5080" rtl="0" algn="l">
              <a:lnSpc>
                <a:spcPct val="114999"/>
              </a:lnSpc>
              <a:spcBef>
                <a:spcPts val="100"/>
              </a:spcBef>
              <a:spcAft>
                <a:spcPts val="0"/>
              </a:spcAft>
              <a:buNone/>
            </a:pPr>
            <a:r>
              <a:rPr b="0" i="0" lang="fr" sz="1600" u="none" cap="none" strike="noStrike">
                <a:solidFill>
                  <a:srgbClr val="000000"/>
                </a:solidFill>
                <a:latin typeface="Arial"/>
                <a:ea typeface="Arial"/>
                <a:cs typeface="Arial"/>
                <a:sym typeface="Arial"/>
              </a:rPr>
              <a:t>Ainsi donc , comme élément à retracer , les RV devront faire le suivi des présences et des absences, renseigner le fichier RH dans les délais prescrits et s’assurer de la disponibilité du matériel nécessaire pour l’exécution des activités terrain tout en s’assurant de l’atteinte des objectifs journaliers,.</a:t>
            </a:r>
            <a:endParaRPr/>
          </a:p>
          <a:p>
            <a:pPr indent="0" lvl="0" marL="12700" marR="5080" rtl="0" algn="l">
              <a:lnSpc>
                <a:spcPct val="114999"/>
              </a:lnSpc>
              <a:spcBef>
                <a:spcPts val="100"/>
              </a:spcBef>
              <a:spcAft>
                <a:spcPts val="0"/>
              </a:spcAft>
              <a:buNone/>
            </a:pPr>
            <a:r>
              <a:t/>
            </a:r>
            <a:endParaRPr b="0" i="0" sz="1600" u="none" cap="none" strike="noStrike">
              <a:solidFill>
                <a:srgbClr val="000000"/>
              </a:solidFill>
              <a:latin typeface="Arial"/>
              <a:ea typeface="Arial"/>
              <a:cs typeface="Arial"/>
              <a:sym typeface="Arial"/>
            </a:endParaRPr>
          </a:p>
          <a:p>
            <a:pPr indent="0" lvl="0" marL="12700" marR="5080" rtl="0" algn="l">
              <a:lnSpc>
                <a:spcPct val="114999"/>
              </a:lnSpc>
              <a:spcBef>
                <a:spcPts val="100"/>
              </a:spcBef>
              <a:spcAft>
                <a:spcPts val="0"/>
              </a:spcAft>
              <a:buNone/>
            </a:pPr>
            <a:r>
              <a:rPr b="0" i="0" lang="fr" sz="1600" u="none" cap="none" strike="noStrike">
                <a:solidFill>
                  <a:srgbClr val="000000"/>
                </a:solidFill>
                <a:latin typeface="Arial"/>
                <a:ea typeface="Arial"/>
                <a:cs typeface="Arial"/>
                <a:sym typeface="Arial"/>
              </a:rPr>
              <a:t>Exemples :</a:t>
            </a:r>
            <a:endParaRPr/>
          </a:p>
          <a:p>
            <a:pPr indent="-285750" lvl="0" marL="298450" marR="5080" rtl="0" algn="l">
              <a:lnSpc>
                <a:spcPct val="114999"/>
              </a:lnSpc>
              <a:spcBef>
                <a:spcPts val="100"/>
              </a:spcBef>
              <a:spcAft>
                <a:spcPts val="0"/>
              </a:spcAft>
              <a:buClr>
                <a:srgbClr val="000000"/>
              </a:buClr>
              <a:buSzPts val="1600"/>
              <a:buFont typeface="Arial"/>
              <a:buChar char="-"/>
            </a:pPr>
            <a:r>
              <a:rPr b="0" i="0" lang="fr" sz="1600" u="none" cap="none" strike="noStrike">
                <a:solidFill>
                  <a:srgbClr val="000000"/>
                </a:solidFill>
                <a:latin typeface="Arial"/>
                <a:ea typeface="Arial"/>
                <a:cs typeface="Arial"/>
                <a:sym typeface="Arial"/>
              </a:rPr>
              <a:t>FAMOCO</a:t>
            </a:r>
            <a:endParaRPr/>
          </a:p>
          <a:p>
            <a:pPr indent="-285750" lvl="0" marL="298450" marR="5080" rtl="0" algn="l">
              <a:lnSpc>
                <a:spcPct val="114999"/>
              </a:lnSpc>
              <a:spcBef>
                <a:spcPts val="100"/>
              </a:spcBef>
              <a:spcAft>
                <a:spcPts val="0"/>
              </a:spcAft>
              <a:buClr>
                <a:srgbClr val="000000"/>
              </a:buClr>
              <a:buSzPts val="1600"/>
              <a:buFont typeface="Arial"/>
              <a:buChar char="-"/>
            </a:pPr>
            <a:r>
              <a:rPr b="0" i="0" lang="fr" sz="1600" u="none" cap="none" strike="noStrike">
                <a:solidFill>
                  <a:srgbClr val="000000"/>
                </a:solidFill>
                <a:latin typeface="Arial"/>
                <a:ea typeface="Arial"/>
                <a:cs typeface="Arial"/>
                <a:sym typeface="Arial"/>
              </a:rPr>
              <a:t>CARTES</a:t>
            </a:r>
            <a:endParaRPr/>
          </a:p>
          <a:p>
            <a:pPr indent="-285750" lvl="0" marL="298450" marR="5080" rtl="0" algn="l">
              <a:lnSpc>
                <a:spcPct val="114999"/>
              </a:lnSpc>
              <a:spcBef>
                <a:spcPts val="100"/>
              </a:spcBef>
              <a:spcAft>
                <a:spcPts val="0"/>
              </a:spcAft>
              <a:buClr>
                <a:srgbClr val="000000"/>
              </a:buClr>
              <a:buSzPts val="1600"/>
              <a:buFont typeface="Arial"/>
              <a:buChar char="-"/>
            </a:pPr>
            <a:r>
              <a:rPr b="0" i="0" lang="fr" sz="1600" u="none" cap="none" strike="noStrike">
                <a:solidFill>
                  <a:srgbClr val="000000"/>
                </a:solidFill>
                <a:latin typeface="Arial"/>
                <a:ea typeface="Arial"/>
                <a:cs typeface="Arial"/>
                <a:sym typeface="Arial"/>
              </a:rPr>
              <a:t>ACCESSOIRS</a:t>
            </a:r>
            <a:endParaRPr/>
          </a:p>
          <a:p>
            <a:pPr indent="-285750" lvl="0" marL="298450" marR="5080" rtl="0" algn="l">
              <a:lnSpc>
                <a:spcPct val="114999"/>
              </a:lnSpc>
              <a:spcBef>
                <a:spcPts val="100"/>
              </a:spcBef>
              <a:spcAft>
                <a:spcPts val="0"/>
              </a:spcAft>
              <a:buClr>
                <a:srgbClr val="000000"/>
              </a:buClr>
              <a:buSzPts val="1600"/>
              <a:buFont typeface="Arial"/>
              <a:buChar char="-"/>
            </a:pPr>
            <a:r>
              <a:rPr b="0" i="0" lang="fr" sz="1600" u="none" cap="none" strike="noStrike">
                <a:solidFill>
                  <a:srgbClr val="000000"/>
                </a:solidFill>
                <a:latin typeface="Arial"/>
                <a:ea typeface="Arial"/>
                <a:cs typeface="Arial"/>
                <a:sym typeface="Arial"/>
              </a:rPr>
              <a:t>COMMUNICATION</a:t>
            </a:r>
            <a:endParaRPr/>
          </a:p>
        </p:txBody>
      </p:sp>
      <p:pic>
        <p:nvPicPr>
          <p:cNvPr id="169" name="Google Shape;169;p70"/>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170" name="Google Shape;170;p70"/>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171" name="Google Shape;171;p70"/>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pic>
        <p:nvPicPr>
          <p:cNvPr descr="Une image contenant texte, capture d’écran, bus, conception&#10;&#10;Description générée automatiquement" id="172" name="Google Shape;172;p70"/>
          <p:cNvPicPr preferRelativeResize="0"/>
          <p:nvPr/>
        </p:nvPicPr>
        <p:blipFill rotWithShape="1">
          <a:blip r:embed="rId4">
            <a:alphaModFix/>
          </a:blip>
          <a:srcRect b="0" l="0" r="0" t="0"/>
          <a:stretch/>
        </p:blipFill>
        <p:spPr>
          <a:xfrm>
            <a:off x="3464471" y="3732722"/>
            <a:ext cx="8352244" cy="268247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71"/>
          <p:cNvSpPr txBox="1"/>
          <p:nvPr>
            <p:ph type="title"/>
          </p:nvPr>
        </p:nvSpPr>
        <p:spPr>
          <a:xfrm>
            <a:off x="0" y="3435"/>
            <a:ext cx="12141200"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Gestion des équipes</a:t>
            </a:r>
            <a:endParaRPr/>
          </a:p>
        </p:txBody>
      </p:sp>
      <p:pic>
        <p:nvPicPr>
          <p:cNvPr id="178" name="Google Shape;178;p71"/>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179" name="Google Shape;179;p71"/>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180" name="Google Shape;180;p71"/>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
        <p:nvSpPr>
          <p:cNvPr id="181" name="Google Shape;181;p71"/>
          <p:cNvSpPr txBox="1"/>
          <p:nvPr/>
        </p:nvSpPr>
        <p:spPr>
          <a:xfrm>
            <a:off x="597718" y="1152215"/>
            <a:ext cx="11122334" cy="95410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Arial"/>
              <a:buAutoNum type="arabicPeriod"/>
            </a:pPr>
            <a:r>
              <a:rPr b="0" i="0" lang="fr" sz="1400" u="none" cap="none" strike="noStrike">
                <a:solidFill>
                  <a:srgbClr val="000000"/>
                </a:solidFill>
                <a:latin typeface="Arial"/>
                <a:ea typeface="Arial"/>
                <a:cs typeface="Arial"/>
                <a:sym typeface="Arial"/>
              </a:rPr>
              <a:t>Comprendre le Rôle des Responsables de Villes </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*Responsabilités clés : Suivi de la mise en œuvre, coordination des équipes, communication avec les parties prenantes. </a:t>
            </a:r>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*Importance du leadership : Motiver et guider les équipes pour atteindre les objectifs fixés.</a:t>
            </a:r>
            <a:endParaRPr b="0" i="0" sz="1400" u="none" cap="none" strike="noStrike">
              <a:solidFill>
                <a:srgbClr val="000000"/>
              </a:solidFill>
              <a:latin typeface="Arial"/>
              <a:ea typeface="Arial"/>
              <a:cs typeface="Arial"/>
              <a:sym typeface="Arial"/>
            </a:endParaRPr>
          </a:p>
        </p:txBody>
      </p:sp>
      <p:sp>
        <p:nvSpPr>
          <p:cNvPr id="182" name="Google Shape;182;p71"/>
          <p:cNvSpPr txBox="1"/>
          <p:nvPr/>
        </p:nvSpPr>
        <p:spPr>
          <a:xfrm>
            <a:off x="597717" y="2420939"/>
            <a:ext cx="11122335"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2. Communication Efficace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*Techniques de communication : Importance d'une communication claire et régulière.</a:t>
            </a:r>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*Outils de communication : Utilisation de plateformes (WhatsApp, e-mail, etc.) pour une meilleure collaboration.</a:t>
            </a:r>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*Feedback constructif</a:t>
            </a:r>
            <a:r>
              <a:rPr lang="fr"/>
              <a:t> </a:t>
            </a:r>
            <a:r>
              <a:rPr b="0" i="0" lang="fr" sz="1400" u="none" cap="none" strike="noStrike">
                <a:solidFill>
                  <a:srgbClr val="000000"/>
                </a:solidFill>
                <a:latin typeface="Arial"/>
                <a:ea typeface="Arial"/>
                <a:cs typeface="Arial"/>
                <a:sym typeface="Arial"/>
              </a:rPr>
              <a:t>: Encourager un environnement où les membres de l'équipe peuvent partager leurs idées</a:t>
            </a:r>
            <a:endParaRPr/>
          </a:p>
        </p:txBody>
      </p:sp>
      <p:sp>
        <p:nvSpPr>
          <p:cNvPr id="183" name="Google Shape;183;p71"/>
          <p:cNvSpPr txBox="1"/>
          <p:nvPr/>
        </p:nvSpPr>
        <p:spPr>
          <a:xfrm>
            <a:off x="597725" y="3803525"/>
            <a:ext cx="115944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3. Gestion des Performances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*Établissement d’objectifs clairs : Importance de fixer des objectifs réalisables et mesurables pour l'équipe.</a:t>
            </a:r>
            <a:endParaRPr/>
          </a:p>
          <a:p>
            <a:pPr indent="45720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*Mesure de la performance : Utiliser les Outils et indicateurs de performance pour suivre l’avancement des équipes, </a:t>
            </a:r>
            <a:endParaRPr/>
          </a:p>
          <a:p>
            <a:pPr indent="45720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*Reconnaissance et récompenses : Créer un système de reconnaissance pour encourager l'engagement et l'innovation au sein des équipes.</a:t>
            </a:r>
            <a:endParaRPr/>
          </a:p>
        </p:txBody>
      </p:sp>
      <p:sp>
        <p:nvSpPr>
          <p:cNvPr id="184" name="Google Shape;184;p71"/>
          <p:cNvSpPr txBox="1"/>
          <p:nvPr/>
        </p:nvSpPr>
        <p:spPr>
          <a:xfrm>
            <a:off x="597717" y="5401565"/>
            <a:ext cx="1099656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4. Formation et Développement des Compétences</a:t>
            </a:r>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*Importance de la formation continue : Encourager le développement professionnel des membres de l'équipe.</a:t>
            </a:r>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*Plan de formation : Identifier les besoins en formation et développer un plan adapté.</a:t>
            </a:r>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*Mentorat et coaching : Encourager les leaders à transmettre leurs connaissances et compétences aux autres.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2"/>
          <p:cNvSpPr txBox="1"/>
          <p:nvPr>
            <p:ph type="title"/>
          </p:nvPr>
        </p:nvSpPr>
        <p:spPr>
          <a:xfrm>
            <a:off x="597718" y="913357"/>
            <a:ext cx="6233652"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OUTILS &amp; SYSTEMES</a:t>
            </a:r>
            <a:endParaRPr/>
          </a:p>
        </p:txBody>
      </p:sp>
      <p:pic>
        <p:nvPicPr>
          <p:cNvPr id="190" name="Google Shape;190;p72"/>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191" name="Google Shape;191;p72"/>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192" name="Google Shape;192;p72"/>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pic>
        <p:nvPicPr>
          <p:cNvPr id="193" name="Google Shape;193;p72"/>
          <p:cNvPicPr preferRelativeResize="0"/>
          <p:nvPr/>
        </p:nvPicPr>
        <p:blipFill rotWithShape="1">
          <a:blip r:embed="rId4">
            <a:alphaModFix/>
          </a:blip>
          <a:srcRect b="10272" l="1963" r="2974" t="17220"/>
          <a:stretch/>
        </p:blipFill>
        <p:spPr>
          <a:xfrm>
            <a:off x="7596725" y="1747527"/>
            <a:ext cx="4236600" cy="3774600"/>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73"/>
          <p:cNvSpPr txBox="1"/>
          <p:nvPr>
            <p:ph type="title"/>
          </p:nvPr>
        </p:nvSpPr>
        <p:spPr>
          <a:xfrm>
            <a:off x="0" y="3435"/>
            <a:ext cx="12141200"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Créer des accès</a:t>
            </a:r>
            <a:endParaRPr/>
          </a:p>
        </p:txBody>
      </p:sp>
      <p:pic>
        <p:nvPicPr>
          <p:cNvPr id="199" name="Google Shape;199;p73"/>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200" name="Google Shape;200;p73"/>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201" name="Google Shape;201;p73"/>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
        <p:nvSpPr>
          <p:cNvPr id="202" name="Google Shape;202;p73"/>
          <p:cNvSpPr txBox="1"/>
          <p:nvPr/>
        </p:nvSpPr>
        <p:spPr>
          <a:xfrm>
            <a:off x="78526" y="1627483"/>
            <a:ext cx="3697061"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Objectif : Permettre aux RV d'accéder aux outils nécessaires pour mener à bien votre missions.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Contenu :  Identification des différents niveaux d'accès requis selon les rôles.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Procédures pour la création et la gestion des comptes utilisateurs.</a:t>
            </a:r>
            <a:endParaRPr/>
          </a:p>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  Bonnes pratiques en matière de sécurité des accès.</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Une image contenant texte, capture d’écran, logiciel, Icône d’ordinateur&#10;&#10;Description générée automatiquement" id="203" name="Google Shape;203;p73"/>
          <p:cNvPicPr preferRelativeResize="0"/>
          <p:nvPr/>
        </p:nvPicPr>
        <p:blipFill rotWithShape="1">
          <a:blip r:embed="rId4">
            <a:alphaModFix/>
          </a:blip>
          <a:srcRect b="0" l="0" r="0" t="0"/>
          <a:stretch/>
        </p:blipFill>
        <p:spPr>
          <a:xfrm>
            <a:off x="3775587" y="1189900"/>
            <a:ext cx="8193589" cy="466029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4"/>
          <p:cNvSpPr txBox="1"/>
          <p:nvPr>
            <p:ph type="title"/>
          </p:nvPr>
        </p:nvSpPr>
        <p:spPr>
          <a:xfrm>
            <a:off x="0" y="3435"/>
            <a:ext cx="12141200"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Requête &amp; suivi du matériel</a:t>
            </a:r>
            <a:endParaRPr/>
          </a:p>
        </p:txBody>
      </p:sp>
      <p:pic>
        <p:nvPicPr>
          <p:cNvPr id="209" name="Google Shape;209;p74"/>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210" name="Google Shape;210;p74"/>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211" name="Google Shape;211;p74"/>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
        <p:nvSpPr>
          <p:cNvPr id="212" name="Google Shape;212;p74"/>
          <p:cNvSpPr txBox="1"/>
          <p:nvPr/>
        </p:nvSpPr>
        <p:spPr>
          <a:xfrm>
            <a:off x="245806" y="3959469"/>
            <a:ext cx="619432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Suivi du Matériel :</a:t>
            </a:r>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Objectif : Mettre en place un système efficace pour la gestion et le suivi du matériel.</a:t>
            </a:r>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 Contenu :  Importance du suivi du matériel pour éviter les pertes et optimiser les ressources.  </a:t>
            </a:r>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Outils et méthodes pour le suivi des inventaires. </a:t>
            </a:r>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Étapes pour l'audit régulier du matériel.</a:t>
            </a:r>
            <a:endParaRPr/>
          </a:p>
        </p:txBody>
      </p:sp>
      <p:sp>
        <p:nvSpPr>
          <p:cNvPr id="213" name="Google Shape;213;p74"/>
          <p:cNvSpPr txBox="1"/>
          <p:nvPr/>
        </p:nvSpPr>
        <p:spPr>
          <a:xfrm>
            <a:off x="245806" y="1246245"/>
            <a:ext cx="6194322"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Faire des Requêtes :</a:t>
            </a:r>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Objectif : Acquérir les compétences pour extraire des données pertinentes afin de soutenir les décisions.</a:t>
            </a:r>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 Contenu :  </a:t>
            </a:r>
            <a:endParaRPr/>
          </a:p>
          <a:p>
            <a:pPr indent="-285750" lvl="0" marL="285750" marR="0" rtl="0" algn="l">
              <a:lnSpc>
                <a:spcPct val="100000"/>
              </a:lnSpc>
              <a:spcBef>
                <a:spcPts val="0"/>
              </a:spcBef>
              <a:spcAft>
                <a:spcPts val="0"/>
              </a:spcAft>
              <a:buClr>
                <a:srgbClr val="000000"/>
              </a:buClr>
              <a:buSzPts val="1400"/>
              <a:buFont typeface="Arial"/>
              <a:buChar char="-"/>
            </a:pPr>
            <a:r>
              <a:rPr b="0" i="0" lang="fr" sz="1400" u="none" cap="none" strike="noStrike">
                <a:solidFill>
                  <a:srgbClr val="000000"/>
                </a:solidFill>
                <a:latin typeface="Arial"/>
                <a:ea typeface="Arial"/>
                <a:cs typeface="Arial"/>
                <a:sym typeface="Arial"/>
              </a:rPr>
              <a:t>- Introduction aux bases de données et à l'importance des requêtes dans le suivi de performance.  - Techniques pour rédiger des requêtes efficaces.  - Études de cas : analyses de données pour la prise de décision.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75"/>
          <p:cNvSpPr txBox="1"/>
          <p:nvPr>
            <p:ph type="title"/>
          </p:nvPr>
        </p:nvSpPr>
        <p:spPr>
          <a:xfrm>
            <a:off x="0" y="3435"/>
            <a:ext cx="12141200"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Suivi des performances</a:t>
            </a:r>
            <a:endParaRPr/>
          </a:p>
        </p:txBody>
      </p:sp>
      <p:sp>
        <p:nvSpPr>
          <p:cNvPr id="219" name="Google Shape;219;p75"/>
          <p:cNvSpPr txBox="1"/>
          <p:nvPr/>
        </p:nvSpPr>
        <p:spPr>
          <a:xfrm>
            <a:off x="597718" y="837598"/>
            <a:ext cx="11492100" cy="1147200"/>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b="0" i="0" lang="fr" sz="1600" u="none" cap="none" strike="noStrike">
                <a:solidFill>
                  <a:srgbClr val="000000"/>
                </a:solidFill>
                <a:latin typeface="Arial"/>
                <a:ea typeface="Arial"/>
                <a:cs typeface="Arial"/>
                <a:sym typeface="Arial"/>
              </a:rPr>
              <a:t>Objectif : </a:t>
            </a:r>
            <a:r>
              <a:rPr lang="fr" sz="1600"/>
              <a:t>Evaluer</a:t>
            </a:r>
            <a:r>
              <a:rPr b="0" i="0" lang="fr" sz="1600" u="none" cap="none" strike="noStrike">
                <a:solidFill>
                  <a:srgbClr val="000000"/>
                </a:solidFill>
                <a:latin typeface="Arial"/>
                <a:ea typeface="Arial"/>
                <a:cs typeface="Arial"/>
                <a:sym typeface="Arial"/>
              </a:rPr>
              <a:t> et améliorer les performances des équipes de vente.</a:t>
            </a:r>
            <a:endParaRPr/>
          </a:p>
          <a:p>
            <a:pPr indent="-285750" lvl="0" marL="298450" marR="5080" rtl="0" algn="l">
              <a:lnSpc>
                <a:spcPct val="114999"/>
              </a:lnSpc>
              <a:spcBef>
                <a:spcPts val="100"/>
              </a:spcBef>
              <a:spcAft>
                <a:spcPts val="0"/>
              </a:spcAft>
              <a:buClr>
                <a:srgbClr val="000000"/>
              </a:buClr>
              <a:buSzPts val="1600"/>
              <a:buFont typeface="Arial"/>
              <a:buChar char="-"/>
            </a:pPr>
            <a:r>
              <a:rPr b="0" i="0" lang="fr" sz="1600" u="none" cap="none" strike="noStrike">
                <a:solidFill>
                  <a:srgbClr val="000000"/>
                </a:solidFill>
                <a:latin typeface="Arial"/>
                <a:ea typeface="Arial"/>
                <a:cs typeface="Arial"/>
                <a:sym typeface="Arial"/>
              </a:rPr>
              <a:t>Contenu : Indicateurs clés de performance (KPI) à surveiller.  </a:t>
            </a:r>
            <a:endParaRPr/>
          </a:p>
          <a:p>
            <a:pPr indent="-285750" lvl="0" marL="298450" marR="5080" rtl="0" algn="l">
              <a:lnSpc>
                <a:spcPct val="114999"/>
              </a:lnSpc>
              <a:spcBef>
                <a:spcPts val="100"/>
              </a:spcBef>
              <a:spcAft>
                <a:spcPts val="0"/>
              </a:spcAft>
              <a:buClr>
                <a:srgbClr val="000000"/>
              </a:buClr>
              <a:buSzPts val="1600"/>
              <a:buFont typeface="Arial"/>
              <a:buChar char="-"/>
            </a:pPr>
            <a:r>
              <a:rPr b="0" i="0" lang="fr" sz="1600" u="none" cap="none" strike="noStrike">
                <a:solidFill>
                  <a:srgbClr val="000000"/>
                </a:solidFill>
                <a:latin typeface="Arial"/>
                <a:ea typeface="Arial"/>
                <a:cs typeface="Arial"/>
                <a:sym typeface="Arial"/>
              </a:rPr>
              <a:t>Méthodes de collecte et d'analyse des données de performance.  </a:t>
            </a:r>
            <a:endParaRPr/>
          </a:p>
          <a:p>
            <a:pPr indent="-285750" lvl="0" marL="298450" marR="5080" rtl="0" algn="l">
              <a:lnSpc>
                <a:spcPct val="114999"/>
              </a:lnSpc>
              <a:spcBef>
                <a:spcPts val="100"/>
              </a:spcBef>
              <a:spcAft>
                <a:spcPts val="0"/>
              </a:spcAft>
              <a:buClr>
                <a:srgbClr val="000000"/>
              </a:buClr>
              <a:buSzPts val="1600"/>
              <a:buFont typeface="Arial"/>
              <a:buChar char="-"/>
            </a:pPr>
            <a:r>
              <a:rPr b="0" i="0" lang="fr" sz="1600" u="none" cap="none" strike="noStrike">
                <a:solidFill>
                  <a:srgbClr val="000000"/>
                </a:solidFill>
                <a:latin typeface="Arial"/>
                <a:ea typeface="Arial"/>
                <a:cs typeface="Arial"/>
                <a:sym typeface="Arial"/>
              </a:rPr>
              <a:t>Stratégies pour utiliser les résultats du suivi afin d'ajuster les actions commerciales.</a:t>
            </a:r>
            <a:endParaRPr b="0" i="0" sz="1600" u="none" cap="none" strike="noStrike">
              <a:solidFill>
                <a:srgbClr val="000000"/>
              </a:solidFill>
              <a:latin typeface="Arial"/>
              <a:ea typeface="Arial"/>
              <a:cs typeface="Arial"/>
              <a:sym typeface="Arial"/>
            </a:endParaRPr>
          </a:p>
        </p:txBody>
      </p:sp>
      <p:pic>
        <p:nvPicPr>
          <p:cNvPr id="220" name="Google Shape;220;p75"/>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221" name="Google Shape;221;p75"/>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222" name="Google Shape;222;p75"/>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pic>
        <p:nvPicPr>
          <p:cNvPr id="223" name="Google Shape;223;p75"/>
          <p:cNvPicPr preferRelativeResize="0"/>
          <p:nvPr/>
        </p:nvPicPr>
        <p:blipFill rotWithShape="1">
          <a:blip r:embed="rId4">
            <a:alphaModFix/>
          </a:blip>
          <a:srcRect b="0" l="0" r="0" t="0"/>
          <a:stretch/>
        </p:blipFill>
        <p:spPr>
          <a:xfrm>
            <a:off x="1709993" y="2119574"/>
            <a:ext cx="8721214" cy="45058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0"/>
          <p:cNvPicPr preferRelativeResize="0"/>
          <p:nvPr/>
        </p:nvPicPr>
        <p:blipFill rotWithShape="1">
          <a:blip r:embed="rId3">
            <a:alphaModFix/>
          </a:blip>
          <a:srcRect b="0" l="0" r="0" t="0"/>
          <a:stretch/>
        </p:blipFill>
        <p:spPr>
          <a:xfrm>
            <a:off x="78526" y="6457249"/>
            <a:ext cx="1038384" cy="290972"/>
          </a:xfrm>
          <a:prstGeom prst="rect">
            <a:avLst/>
          </a:prstGeom>
          <a:noFill/>
          <a:ln>
            <a:noFill/>
          </a:ln>
        </p:spPr>
      </p:pic>
      <p:sp>
        <p:nvSpPr>
          <p:cNvPr id="229" name="Google Shape;229;p20"/>
          <p:cNvSpPr txBox="1"/>
          <p:nvPr>
            <p:ph type="title"/>
          </p:nvPr>
        </p:nvSpPr>
        <p:spPr>
          <a:xfrm>
            <a:off x="25400" y="13174"/>
            <a:ext cx="12141200" cy="878739"/>
          </a:xfrm>
          <a:prstGeom prst="rect">
            <a:avLst/>
          </a:prstGeom>
          <a:noFill/>
          <a:ln>
            <a:noFill/>
          </a:ln>
        </p:spPr>
        <p:txBody>
          <a:bodyPr anchorCtr="0" anchor="t" bIns="0" lIns="0" spcFirstLastPara="1" rIns="0" wrap="square" tIns="88850">
            <a:spAutoFit/>
          </a:bodyPr>
          <a:lstStyle/>
          <a:p>
            <a:pPr indent="0" lvl="0" marL="212725" rtl="0" algn="l">
              <a:lnSpc>
                <a:spcPct val="100000"/>
              </a:lnSpc>
              <a:spcBef>
                <a:spcPts val="100"/>
              </a:spcBef>
              <a:spcAft>
                <a:spcPts val="0"/>
              </a:spcAft>
              <a:buSzPts val="1400"/>
              <a:buNone/>
            </a:pPr>
            <a:r>
              <a:rPr lang="fr" sz="4700">
                <a:solidFill>
                  <a:srgbClr val="990000"/>
                </a:solidFill>
              </a:rPr>
              <a:t>Des questions???</a:t>
            </a:r>
            <a:endParaRPr sz="4700"/>
          </a:p>
        </p:txBody>
      </p:sp>
      <p:pic>
        <p:nvPicPr>
          <p:cNvPr id="230" name="Google Shape;230;p20"/>
          <p:cNvPicPr preferRelativeResize="0"/>
          <p:nvPr/>
        </p:nvPicPr>
        <p:blipFill rotWithShape="1">
          <a:blip r:embed="rId3">
            <a:alphaModFix/>
          </a:blip>
          <a:srcRect b="0" l="0" r="0" t="0"/>
          <a:stretch/>
        </p:blipFill>
        <p:spPr>
          <a:xfrm>
            <a:off x="9577699" y="1"/>
            <a:ext cx="2553284" cy="715443"/>
          </a:xfrm>
          <a:prstGeom prst="rect">
            <a:avLst/>
          </a:prstGeom>
          <a:noFill/>
          <a:ln>
            <a:noFill/>
          </a:ln>
        </p:spPr>
      </p:pic>
      <p:grpSp>
        <p:nvGrpSpPr>
          <p:cNvPr id="231" name="Google Shape;231;p20"/>
          <p:cNvGrpSpPr/>
          <p:nvPr/>
        </p:nvGrpSpPr>
        <p:grpSpPr>
          <a:xfrm>
            <a:off x="6896901" y="2464535"/>
            <a:ext cx="1078865" cy="1078865"/>
            <a:chOff x="6896901" y="2464535"/>
            <a:chExt cx="1078865" cy="1078865"/>
          </a:xfrm>
        </p:grpSpPr>
        <p:sp>
          <p:nvSpPr>
            <p:cNvPr id="232" name="Google Shape;232;p20"/>
            <p:cNvSpPr/>
            <p:nvPr/>
          </p:nvSpPr>
          <p:spPr>
            <a:xfrm>
              <a:off x="6896901" y="2464535"/>
              <a:ext cx="1078865" cy="1078865"/>
            </a:xfrm>
            <a:custGeom>
              <a:rect b="b" l="l" r="r" t="t"/>
              <a:pathLst>
                <a:path extrusionOk="0" h="1078864" w="1078865">
                  <a:moveTo>
                    <a:pt x="0" y="539348"/>
                  </a:moveTo>
                  <a:lnTo>
                    <a:pt x="2204" y="490256"/>
                  </a:lnTo>
                  <a:lnTo>
                    <a:pt x="8689" y="442399"/>
                  </a:lnTo>
                  <a:lnTo>
                    <a:pt x="19266" y="395968"/>
                  </a:lnTo>
                  <a:lnTo>
                    <a:pt x="33743" y="351152"/>
                  </a:lnTo>
                  <a:lnTo>
                    <a:pt x="51930" y="308142"/>
                  </a:lnTo>
                  <a:lnTo>
                    <a:pt x="73636" y="267128"/>
                  </a:lnTo>
                  <a:lnTo>
                    <a:pt x="98673" y="228302"/>
                  </a:lnTo>
                  <a:lnTo>
                    <a:pt x="126848" y="191853"/>
                  </a:lnTo>
                  <a:lnTo>
                    <a:pt x="157971" y="157971"/>
                  </a:lnTo>
                  <a:lnTo>
                    <a:pt x="191853" y="126847"/>
                  </a:lnTo>
                  <a:lnTo>
                    <a:pt x="228302" y="98672"/>
                  </a:lnTo>
                  <a:lnTo>
                    <a:pt x="267129" y="73636"/>
                  </a:lnTo>
                  <a:lnTo>
                    <a:pt x="308142" y="51930"/>
                  </a:lnTo>
                  <a:lnTo>
                    <a:pt x="351152" y="33742"/>
                  </a:lnTo>
                  <a:lnTo>
                    <a:pt x="395968" y="19266"/>
                  </a:lnTo>
                  <a:lnTo>
                    <a:pt x="442400" y="8689"/>
                  </a:lnTo>
                  <a:lnTo>
                    <a:pt x="490256" y="2204"/>
                  </a:lnTo>
                  <a:lnTo>
                    <a:pt x="539348" y="0"/>
                  </a:lnTo>
                  <a:lnTo>
                    <a:pt x="586771" y="2087"/>
                  </a:lnTo>
                  <a:lnTo>
                    <a:pt x="633512" y="8281"/>
                  </a:lnTo>
                  <a:lnTo>
                    <a:pt x="679322" y="18478"/>
                  </a:lnTo>
                  <a:lnTo>
                    <a:pt x="723953" y="32576"/>
                  </a:lnTo>
                  <a:lnTo>
                    <a:pt x="767156" y="50471"/>
                  </a:lnTo>
                  <a:lnTo>
                    <a:pt x="808683" y="72061"/>
                  </a:lnTo>
                  <a:lnTo>
                    <a:pt x="848286" y="97243"/>
                  </a:lnTo>
                  <a:lnTo>
                    <a:pt x="885716" y="125914"/>
                  </a:lnTo>
                  <a:lnTo>
                    <a:pt x="920725" y="157971"/>
                  </a:lnTo>
                  <a:lnTo>
                    <a:pt x="952783" y="192980"/>
                  </a:lnTo>
                  <a:lnTo>
                    <a:pt x="981454" y="230410"/>
                  </a:lnTo>
                  <a:lnTo>
                    <a:pt x="1006636" y="270013"/>
                  </a:lnTo>
                  <a:lnTo>
                    <a:pt x="1028226" y="311541"/>
                  </a:lnTo>
                  <a:lnTo>
                    <a:pt x="1046121" y="354744"/>
                  </a:lnTo>
                  <a:lnTo>
                    <a:pt x="1060219" y="399374"/>
                  </a:lnTo>
                  <a:lnTo>
                    <a:pt x="1070416" y="445184"/>
                  </a:lnTo>
                  <a:lnTo>
                    <a:pt x="1076610" y="491925"/>
                  </a:lnTo>
                  <a:lnTo>
                    <a:pt x="1078697" y="539348"/>
                  </a:lnTo>
                  <a:lnTo>
                    <a:pt x="1076493" y="588440"/>
                  </a:lnTo>
                  <a:lnTo>
                    <a:pt x="1070008" y="636297"/>
                  </a:lnTo>
                  <a:lnTo>
                    <a:pt x="1059431" y="682728"/>
                  </a:lnTo>
                  <a:lnTo>
                    <a:pt x="1044954" y="727544"/>
                  </a:lnTo>
                  <a:lnTo>
                    <a:pt x="1026767" y="770554"/>
                  </a:lnTo>
                  <a:lnTo>
                    <a:pt x="1005060" y="811568"/>
                  </a:lnTo>
                  <a:lnTo>
                    <a:pt x="980024" y="850394"/>
                  </a:lnTo>
                  <a:lnTo>
                    <a:pt x="951849" y="886843"/>
                  </a:lnTo>
                  <a:lnTo>
                    <a:pt x="920725" y="920725"/>
                  </a:lnTo>
                  <a:lnTo>
                    <a:pt x="886844" y="951848"/>
                  </a:lnTo>
                  <a:lnTo>
                    <a:pt x="850394" y="980024"/>
                  </a:lnTo>
                  <a:lnTo>
                    <a:pt x="811568" y="1005060"/>
                  </a:lnTo>
                  <a:lnTo>
                    <a:pt x="770554" y="1026766"/>
                  </a:lnTo>
                  <a:lnTo>
                    <a:pt x="727544" y="1044953"/>
                  </a:lnTo>
                  <a:lnTo>
                    <a:pt x="682728" y="1059430"/>
                  </a:lnTo>
                  <a:lnTo>
                    <a:pt x="636297" y="1070007"/>
                  </a:lnTo>
                  <a:lnTo>
                    <a:pt x="588440" y="1076492"/>
                  </a:lnTo>
                  <a:lnTo>
                    <a:pt x="539348" y="1078696"/>
                  </a:lnTo>
                  <a:lnTo>
                    <a:pt x="490256" y="1076492"/>
                  </a:lnTo>
                  <a:lnTo>
                    <a:pt x="442400" y="1070007"/>
                  </a:lnTo>
                  <a:lnTo>
                    <a:pt x="395968" y="1059430"/>
                  </a:lnTo>
                  <a:lnTo>
                    <a:pt x="351152" y="1044953"/>
                  </a:lnTo>
                  <a:lnTo>
                    <a:pt x="308142" y="1026766"/>
                  </a:lnTo>
                  <a:lnTo>
                    <a:pt x="267129" y="1005060"/>
                  </a:lnTo>
                  <a:lnTo>
                    <a:pt x="228302" y="980024"/>
                  </a:lnTo>
                  <a:lnTo>
                    <a:pt x="191853" y="951848"/>
                  </a:lnTo>
                  <a:lnTo>
                    <a:pt x="157971" y="920725"/>
                  </a:lnTo>
                  <a:lnTo>
                    <a:pt x="126848" y="886843"/>
                  </a:lnTo>
                  <a:lnTo>
                    <a:pt x="98673" y="850394"/>
                  </a:lnTo>
                  <a:lnTo>
                    <a:pt x="73636" y="811568"/>
                  </a:lnTo>
                  <a:lnTo>
                    <a:pt x="51930" y="770554"/>
                  </a:lnTo>
                  <a:lnTo>
                    <a:pt x="33743" y="727544"/>
                  </a:lnTo>
                  <a:lnTo>
                    <a:pt x="19266" y="682728"/>
                  </a:lnTo>
                  <a:lnTo>
                    <a:pt x="8689" y="636297"/>
                  </a:lnTo>
                  <a:lnTo>
                    <a:pt x="2204" y="588440"/>
                  </a:lnTo>
                  <a:lnTo>
                    <a:pt x="0" y="539348"/>
                  </a:lnTo>
                  <a:close/>
                </a:path>
              </a:pathLst>
            </a:custGeom>
            <a:noFill/>
            <a:ln cap="flat" cmpd="sng" w="50775">
              <a:solidFill>
                <a:srgbClr val="3E3E3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20"/>
            <p:cNvSpPr/>
            <p:nvPr/>
          </p:nvSpPr>
          <p:spPr>
            <a:xfrm>
              <a:off x="7027505" y="2595137"/>
              <a:ext cx="817880" cy="817880"/>
            </a:xfrm>
            <a:custGeom>
              <a:rect b="b" l="l" r="r" t="t"/>
              <a:pathLst>
                <a:path extrusionOk="0" h="817879" w="817879">
                  <a:moveTo>
                    <a:pt x="408807" y="817615"/>
                  </a:moveTo>
                  <a:lnTo>
                    <a:pt x="361132" y="814864"/>
                  </a:lnTo>
                  <a:lnTo>
                    <a:pt x="315071" y="806818"/>
                  </a:lnTo>
                  <a:lnTo>
                    <a:pt x="270933" y="793782"/>
                  </a:lnTo>
                  <a:lnTo>
                    <a:pt x="229024" y="776063"/>
                  </a:lnTo>
                  <a:lnTo>
                    <a:pt x="189650" y="753968"/>
                  </a:lnTo>
                  <a:lnTo>
                    <a:pt x="153119" y="727804"/>
                  </a:lnTo>
                  <a:lnTo>
                    <a:pt x="119737" y="697878"/>
                  </a:lnTo>
                  <a:lnTo>
                    <a:pt x="89810" y="664496"/>
                  </a:lnTo>
                  <a:lnTo>
                    <a:pt x="63646" y="627964"/>
                  </a:lnTo>
                  <a:lnTo>
                    <a:pt x="41551" y="588590"/>
                  </a:lnTo>
                  <a:lnTo>
                    <a:pt x="23832" y="546681"/>
                  </a:lnTo>
                  <a:lnTo>
                    <a:pt x="10796" y="502543"/>
                  </a:lnTo>
                  <a:lnTo>
                    <a:pt x="2750" y="456483"/>
                  </a:lnTo>
                  <a:lnTo>
                    <a:pt x="0" y="408807"/>
                  </a:lnTo>
                  <a:lnTo>
                    <a:pt x="2750" y="361132"/>
                  </a:lnTo>
                  <a:lnTo>
                    <a:pt x="10796" y="315071"/>
                  </a:lnTo>
                  <a:lnTo>
                    <a:pt x="23832" y="270933"/>
                  </a:lnTo>
                  <a:lnTo>
                    <a:pt x="41551" y="229024"/>
                  </a:lnTo>
                  <a:lnTo>
                    <a:pt x="63646" y="189650"/>
                  </a:lnTo>
                  <a:lnTo>
                    <a:pt x="89810" y="153119"/>
                  </a:lnTo>
                  <a:lnTo>
                    <a:pt x="119737" y="119736"/>
                  </a:lnTo>
                  <a:lnTo>
                    <a:pt x="153119" y="89810"/>
                  </a:lnTo>
                  <a:lnTo>
                    <a:pt x="189650" y="63646"/>
                  </a:lnTo>
                  <a:lnTo>
                    <a:pt x="229024" y="41551"/>
                  </a:lnTo>
                  <a:lnTo>
                    <a:pt x="270933" y="23832"/>
                  </a:lnTo>
                  <a:lnTo>
                    <a:pt x="315071" y="10796"/>
                  </a:lnTo>
                  <a:lnTo>
                    <a:pt x="361132" y="2750"/>
                  </a:lnTo>
                  <a:lnTo>
                    <a:pt x="408807" y="0"/>
                  </a:lnTo>
                  <a:lnTo>
                    <a:pt x="462543" y="3545"/>
                  </a:lnTo>
                  <a:lnTo>
                    <a:pt x="514902" y="14005"/>
                  </a:lnTo>
                  <a:lnTo>
                    <a:pt x="565251" y="31118"/>
                  </a:lnTo>
                  <a:lnTo>
                    <a:pt x="612954" y="54620"/>
                  </a:lnTo>
                  <a:lnTo>
                    <a:pt x="657374" y="84247"/>
                  </a:lnTo>
                  <a:lnTo>
                    <a:pt x="697878" y="119737"/>
                  </a:lnTo>
                  <a:lnTo>
                    <a:pt x="733367" y="160240"/>
                  </a:lnTo>
                  <a:lnTo>
                    <a:pt x="762995" y="204661"/>
                  </a:lnTo>
                  <a:lnTo>
                    <a:pt x="786496" y="252363"/>
                  </a:lnTo>
                  <a:lnTo>
                    <a:pt x="803609" y="302712"/>
                  </a:lnTo>
                  <a:lnTo>
                    <a:pt x="814070" y="355072"/>
                  </a:lnTo>
                  <a:lnTo>
                    <a:pt x="817615" y="408807"/>
                  </a:lnTo>
                  <a:lnTo>
                    <a:pt x="814865" y="456483"/>
                  </a:lnTo>
                  <a:lnTo>
                    <a:pt x="806818" y="502543"/>
                  </a:lnTo>
                  <a:lnTo>
                    <a:pt x="793782" y="546681"/>
                  </a:lnTo>
                  <a:lnTo>
                    <a:pt x="776063" y="588590"/>
                  </a:lnTo>
                  <a:lnTo>
                    <a:pt x="753969" y="627964"/>
                  </a:lnTo>
                  <a:lnTo>
                    <a:pt x="727805" y="664496"/>
                  </a:lnTo>
                  <a:lnTo>
                    <a:pt x="697878" y="697878"/>
                  </a:lnTo>
                  <a:lnTo>
                    <a:pt x="664496" y="727804"/>
                  </a:lnTo>
                  <a:lnTo>
                    <a:pt x="627964" y="753968"/>
                  </a:lnTo>
                  <a:lnTo>
                    <a:pt x="588591" y="776063"/>
                  </a:lnTo>
                  <a:lnTo>
                    <a:pt x="546681" y="793782"/>
                  </a:lnTo>
                  <a:lnTo>
                    <a:pt x="502543" y="806818"/>
                  </a:lnTo>
                  <a:lnTo>
                    <a:pt x="456483" y="814864"/>
                  </a:lnTo>
                  <a:lnTo>
                    <a:pt x="408807" y="817615"/>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34" name="Google Shape;234;p20"/>
          <p:cNvSpPr txBox="1"/>
          <p:nvPr/>
        </p:nvSpPr>
        <p:spPr>
          <a:xfrm>
            <a:off x="7369219" y="2893429"/>
            <a:ext cx="134620"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0" lang="fr" sz="14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35" name="Google Shape;235;p20"/>
          <p:cNvSpPr/>
          <p:nvPr/>
        </p:nvSpPr>
        <p:spPr>
          <a:xfrm>
            <a:off x="5240079" y="2535145"/>
            <a:ext cx="2049780" cy="1471930"/>
          </a:xfrm>
          <a:custGeom>
            <a:rect b="b" l="l" r="r" t="t"/>
            <a:pathLst>
              <a:path extrusionOk="0" h="1471929" w="2049779">
                <a:moveTo>
                  <a:pt x="1087048" y="1471452"/>
                </a:moveTo>
                <a:lnTo>
                  <a:pt x="1013131" y="1470246"/>
                </a:lnTo>
                <a:lnTo>
                  <a:pt x="990987" y="1470263"/>
                </a:lnTo>
                <a:lnTo>
                  <a:pt x="962489" y="1470177"/>
                </a:lnTo>
                <a:lnTo>
                  <a:pt x="888822" y="1468873"/>
                </a:lnTo>
                <a:lnTo>
                  <a:pt x="844849" y="1467243"/>
                </a:lnTo>
                <a:lnTo>
                  <a:pt x="796914" y="1464686"/>
                </a:lnTo>
                <a:lnTo>
                  <a:pt x="745613" y="1460997"/>
                </a:lnTo>
                <a:lnTo>
                  <a:pt x="691546" y="1455968"/>
                </a:lnTo>
                <a:lnTo>
                  <a:pt x="635309" y="1449395"/>
                </a:lnTo>
                <a:lnTo>
                  <a:pt x="577501" y="1441072"/>
                </a:lnTo>
                <a:lnTo>
                  <a:pt x="518718" y="1430792"/>
                </a:lnTo>
                <a:lnTo>
                  <a:pt x="459560" y="1418349"/>
                </a:lnTo>
                <a:lnTo>
                  <a:pt x="400624" y="1403538"/>
                </a:lnTo>
                <a:lnTo>
                  <a:pt x="342506" y="1386152"/>
                </a:lnTo>
                <a:lnTo>
                  <a:pt x="285806" y="1365986"/>
                </a:lnTo>
                <a:lnTo>
                  <a:pt x="231121" y="1342834"/>
                </a:lnTo>
                <a:lnTo>
                  <a:pt x="179049" y="1316489"/>
                </a:lnTo>
                <a:lnTo>
                  <a:pt x="117905" y="1289126"/>
                </a:lnTo>
                <a:lnTo>
                  <a:pt x="76584" y="1281895"/>
                </a:lnTo>
                <a:lnTo>
                  <a:pt x="42062" y="1287338"/>
                </a:lnTo>
                <a:lnTo>
                  <a:pt x="1316" y="1297993"/>
                </a:lnTo>
                <a:lnTo>
                  <a:pt x="0" y="657298"/>
                </a:lnTo>
                <a:lnTo>
                  <a:pt x="55281" y="661749"/>
                </a:lnTo>
                <a:lnTo>
                  <a:pt x="100661" y="668136"/>
                </a:lnTo>
                <a:lnTo>
                  <a:pt x="141224" y="669041"/>
                </a:lnTo>
                <a:lnTo>
                  <a:pt x="182052" y="657046"/>
                </a:lnTo>
                <a:lnTo>
                  <a:pt x="228226" y="624733"/>
                </a:lnTo>
                <a:lnTo>
                  <a:pt x="251655" y="605105"/>
                </a:lnTo>
                <a:lnTo>
                  <a:pt x="280775" y="583862"/>
                </a:lnTo>
                <a:lnTo>
                  <a:pt x="315172" y="559300"/>
                </a:lnTo>
                <a:lnTo>
                  <a:pt x="354434" y="529709"/>
                </a:lnTo>
                <a:lnTo>
                  <a:pt x="398147" y="493384"/>
                </a:lnTo>
                <a:lnTo>
                  <a:pt x="445899" y="448618"/>
                </a:lnTo>
                <a:lnTo>
                  <a:pt x="496378" y="412556"/>
                </a:lnTo>
                <a:lnTo>
                  <a:pt x="540940" y="378717"/>
                </a:lnTo>
                <a:lnTo>
                  <a:pt x="581117" y="347060"/>
                </a:lnTo>
                <a:lnTo>
                  <a:pt x="618445" y="317544"/>
                </a:lnTo>
                <a:lnTo>
                  <a:pt x="654458" y="290128"/>
                </a:lnTo>
                <a:lnTo>
                  <a:pt x="690690" y="264771"/>
                </a:lnTo>
                <a:lnTo>
                  <a:pt x="728676" y="241433"/>
                </a:lnTo>
                <a:lnTo>
                  <a:pt x="769949" y="220073"/>
                </a:lnTo>
                <a:lnTo>
                  <a:pt x="813093" y="204575"/>
                </a:lnTo>
                <a:lnTo>
                  <a:pt x="857220" y="187962"/>
                </a:lnTo>
                <a:lnTo>
                  <a:pt x="902243" y="169752"/>
                </a:lnTo>
                <a:lnTo>
                  <a:pt x="948073" y="149463"/>
                </a:lnTo>
                <a:lnTo>
                  <a:pt x="994624" y="126615"/>
                </a:lnTo>
                <a:lnTo>
                  <a:pt x="1041809" y="100726"/>
                </a:lnTo>
                <a:lnTo>
                  <a:pt x="1089541" y="71315"/>
                </a:lnTo>
                <a:lnTo>
                  <a:pt x="1137731" y="37900"/>
                </a:lnTo>
                <a:lnTo>
                  <a:pt x="1186294" y="0"/>
                </a:lnTo>
                <a:lnTo>
                  <a:pt x="1207368" y="43115"/>
                </a:lnTo>
                <a:lnTo>
                  <a:pt x="1216086" y="84092"/>
                </a:lnTo>
                <a:lnTo>
                  <a:pt x="1213973" y="122977"/>
                </a:lnTo>
                <a:lnTo>
                  <a:pt x="1202551" y="159815"/>
                </a:lnTo>
                <a:lnTo>
                  <a:pt x="1183345" y="194653"/>
                </a:lnTo>
                <a:lnTo>
                  <a:pt x="1157877" y="227537"/>
                </a:lnTo>
                <a:lnTo>
                  <a:pt x="1127671" y="258511"/>
                </a:lnTo>
                <a:lnTo>
                  <a:pt x="1094252" y="287622"/>
                </a:lnTo>
                <a:lnTo>
                  <a:pt x="1059141" y="314916"/>
                </a:lnTo>
                <a:lnTo>
                  <a:pt x="1023864" y="340439"/>
                </a:lnTo>
                <a:lnTo>
                  <a:pt x="989943" y="364236"/>
                </a:lnTo>
                <a:lnTo>
                  <a:pt x="958902" y="386354"/>
                </a:lnTo>
                <a:lnTo>
                  <a:pt x="932264" y="406837"/>
                </a:lnTo>
                <a:lnTo>
                  <a:pt x="892891" y="450487"/>
                </a:lnTo>
                <a:lnTo>
                  <a:pt x="873836" y="478403"/>
                </a:lnTo>
                <a:lnTo>
                  <a:pt x="873271" y="503211"/>
                </a:lnTo>
                <a:lnTo>
                  <a:pt x="889368" y="537538"/>
                </a:lnTo>
                <a:lnTo>
                  <a:pt x="927015" y="554197"/>
                </a:lnTo>
                <a:lnTo>
                  <a:pt x="997551" y="564851"/>
                </a:lnTo>
                <a:lnTo>
                  <a:pt x="1042933" y="568265"/>
                </a:lnTo>
                <a:lnTo>
                  <a:pt x="1093874" y="570585"/>
                </a:lnTo>
                <a:lnTo>
                  <a:pt x="1149485" y="571947"/>
                </a:lnTo>
                <a:lnTo>
                  <a:pt x="1208879" y="572485"/>
                </a:lnTo>
                <a:lnTo>
                  <a:pt x="1271168" y="572337"/>
                </a:lnTo>
                <a:lnTo>
                  <a:pt x="1335464" y="571637"/>
                </a:lnTo>
                <a:lnTo>
                  <a:pt x="1400879" y="570521"/>
                </a:lnTo>
                <a:lnTo>
                  <a:pt x="1466524" y="569125"/>
                </a:lnTo>
                <a:lnTo>
                  <a:pt x="1531513" y="567585"/>
                </a:lnTo>
                <a:lnTo>
                  <a:pt x="1594956" y="566035"/>
                </a:lnTo>
                <a:lnTo>
                  <a:pt x="1655967" y="564613"/>
                </a:lnTo>
                <a:lnTo>
                  <a:pt x="1713657" y="563454"/>
                </a:lnTo>
                <a:lnTo>
                  <a:pt x="1767138" y="562692"/>
                </a:lnTo>
                <a:lnTo>
                  <a:pt x="1815522" y="562465"/>
                </a:lnTo>
                <a:lnTo>
                  <a:pt x="1857922" y="562908"/>
                </a:lnTo>
                <a:lnTo>
                  <a:pt x="1893449" y="564156"/>
                </a:lnTo>
                <a:lnTo>
                  <a:pt x="1946555" y="565785"/>
                </a:lnTo>
                <a:lnTo>
                  <a:pt x="1988076" y="576039"/>
                </a:lnTo>
                <a:lnTo>
                  <a:pt x="2038583" y="615118"/>
                </a:lnTo>
                <a:lnTo>
                  <a:pt x="2049412" y="666773"/>
                </a:lnTo>
                <a:lnTo>
                  <a:pt x="2041335" y="692749"/>
                </a:lnTo>
                <a:lnTo>
                  <a:pt x="2000974" y="735861"/>
                </a:lnTo>
                <a:lnTo>
                  <a:pt x="1932040" y="755004"/>
                </a:lnTo>
                <a:lnTo>
                  <a:pt x="1870357" y="756902"/>
                </a:lnTo>
                <a:lnTo>
                  <a:pt x="1803133" y="758504"/>
                </a:lnTo>
                <a:lnTo>
                  <a:pt x="1766340" y="759359"/>
                </a:lnTo>
                <a:lnTo>
                  <a:pt x="1726839" y="760339"/>
                </a:lnTo>
                <a:lnTo>
                  <a:pt x="1684188" y="761510"/>
                </a:lnTo>
                <a:lnTo>
                  <a:pt x="1637946" y="762938"/>
                </a:lnTo>
                <a:lnTo>
                  <a:pt x="1587673" y="764690"/>
                </a:lnTo>
                <a:lnTo>
                  <a:pt x="1532927" y="766831"/>
                </a:lnTo>
                <a:lnTo>
                  <a:pt x="1473267" y="769429"/>
                </a:lnTo>
                <a:lnTo>
                  <a:pt x="1408252" y="772548"/>
                </a:lnTo>
                <a:lnTo>
                  <a:pt x="1337442" y="776256"/>
                </a:lnTo>
                <a:lnTo>
                  <a:pt x="1260394" y="780619"/>
                </a:lnTo>
                <a:lnTo>
                  <a:pt x="1176668" y="785703"/>
                </a:lnTo>
                <a:lnTo>
                  <a:pt x="1241963" y="789700"/>
                </a:lnTo>
                <a:lnTo>
                  <a:pt x="1299160" y="791720"/>
                </a:lnTo>
                <a:lnTo>
                  <a:pt x="1350809" y="792046"/>
                </a:lnTo>
                <a:lnTo>
                  <a:pt x="1399461" y="790955"/>
                </a:lnTo>
                <a:lnTo>
                  <a:pt x="1447667" y="788729"/>
                </a:lnTo>
                <a:lnTo>
                  <a:pt x="1497978" y="785648"/>
                </a:lnTo>
                <a:lnTo>
                  <a:pt x="1552945" y="781990"/>
                </a:lnTo>
                <a:lnTo>
                  <a:pt x="1556813" y="848213"/>
                </a:lnTo>
                <a:lnTo>
                  <a:pt x="1553668" y="895644"/>
                </a:lnTo>
                <a:lnTo>
                  <a:pt x="1539429" y="933495"/>
                </a:lnTo>
                <a:lnTo>
                  <a:pt x="1510013" y="970973"/>
                </a:lnTo>
                <a:lnTo>
                  <a:pt x="1463136" y="994504"/>
                </a:lnTo>
                <a:lnTo>
                  <a:pt x="1406487" y="1008547"/>
                </a:lnTo>
                <a:lnTo>
                  <a:pt x="1346159" y="1015511"/>
                </a:lnTo>
                <a:lnTo>
                  <a:pt x="1288243" y="1017803"/>
                </a:lnTo>
                <a:lnTo>
                  <a:pt x="1238834" y="1017831"/>
                </a:lnTo>
                <a:lnTo>
                  <a:pt x="1204024" y="1018001"/>
                </a:lnTo>
                <a:lnTo>
                  <a:pt x="1189905" y="1020721"/>
                </a:lnTo>
                <a:lnTo>
                  <a:pt x="1230652" y="1024111"/>
                </a:lnTo>
                <a:lnTo>
                  <a:pt x="1274355" y="1028200"/>
                </a:lnTo>
                <a:lnTo>
                  <a:pt x="1320210" y="1031052"/>
                </a:lnTo>
                <a:lnTo>
                  <a:pt x="1367408" y="1030733"/>
                </a:lnTo>
                <a:lnTo>
                  <a:pt x="1415144" y="1025305"/>
                </a:lnTo>
                <a:lnTo>
                  <a:pt x="1462611" y="1012835"/>
                </a:lnTo>
                <a:lnTo>
                  <a:pt x="1509002" y="991386"/>
                </a:lnTo>
                <a:lnTo>
                  <a:pt x="1528898" y="1041433"/>
                </a:lnTo>
                <a:lnTo>
                  <a:pt x="1532000" y="1091316"/>
                </a:lnTo>
                <a:lnTo>
                  <a:pt x="1521047" y="1138450"/>
                </a:lnTo>
                <a:lnTo>
                  <a:pt x="1498777" y="1180249"/>
                </a:lnTo>
                <a:lnTo>
                  <a:pt x="1467928" y="1214129"/>
                </a:lnTo>
                <a:lnTo>
                  <a:pt x="1426052" y="1227586"/>
                </a:lnTo>
                <a:lnTo>
                  <a:pt x="1365260" y="1231400"/>
                </a:lnTo>
                <a:lnTo>
                  <a:pt x="1297243" y="1229352"/>
                </a:lnTo>
                <a:lnTo>
                  <a:pt x="1233691" y="1225224"/>
                </a:lnTo>
                <a:lnTo>
                  <a:pt x="1186296" y="1222798"/>
                </a:lnTo>
                <a:lnTo>
                  <a:pt x="1166747" y="1225855"/>
                </a:lnTo>
                <a:lnTo>
                  <a:pt x="1209345" y="1232184"/>
                </a:lnTo>
                <a:lnTo>
                  <a:pt x="1256713" y="1239551"/>
                </a:lnTo>
                <a:lnTo>
                  <a:pt x="1306983" y="1245656"/>
                </a:lnTo>
                <a:lnTo>
                  <a:pt x="1358289" y="1248198"/>
                </a:lnTo>
                <a:lnTo>
                  <a:pt x="1408764" y="1244873"/>
                </a:lnTo>
                <a:lnTo>
                  <a:pt x="1456539" y="1233382"/>
                </a:lnTo>
                <a:lnTo>
                  <a:pt x="1475093" y="1293408"/>
                </a:lnTo>
                <a:lnTo>
                  <a:pt x="1479253" y="1337395"/>
                </a:lnTo>
                <a:lnTo>
                  <a:pt x="1464382" y="1375999"/>
                </a:lnTo>
                <a:lnTo>
                  <a:pt x="1425843" y="1419875"/>
                </a:lnTo>
                <a:lnTo>
                  <a:pt x="1359182" y="1446823"/>
                </a:lnTo>
                <a:lnTo>
                  <a:pt x="1317162" y="1456335"/>
                </a:lnTo>
                <a:lnTo>
                  <a:pt x="1269115" y="1463404"/>
                </a:lnTo>
                <a:lnTo>
                  <a:pt x="1214863" y="1468180"/>
                </a:lnTo>
                <a:lnTo>
                  <a:pt x="1154233" y="1470813"/>
                </a:lnTo>
                <a:lnTo>
                  <a:pt x="1087048" y="1471452"/>
                </a:lnTo>
                <a:close/>
              </a:path>
            </a:pathLst>
          </a:custGeom>
          <a:solidFill>
            <a:srgbClr val="8743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6" name="Google Shape;236;p20"/>
          <p:cNvSpPr/>
          <p:nvPr/>
        </p:nvSpPr>
        <p:spPr>
          <a:xfrm>
            <a:off x="4508112" y="3066965"/>
            <a:ext cx="430530" cy="939165"/>
          </a:xfrm>
          <a:custGeom>
            <a:rect b="b" l="l" r="r" t="t"/>
            <a:pathLst>
              <a:path extrusionOk="0" h="939164" w="430529">
                <a:moveTo>
                  <a:pt x="430177" y="938912"/>
                </a:moveTo>
                <a:lnTo>
                  <a:pt x="0" y="938912"/>
                </a:lnTo>
                <a:lnTo>
                  <a:pt x="0" y="0"/>
                </a:lnTo>
                <a:lnTo>
                  <a:pt x="430177" y="0"/>
                </a:lnTo>
                <a:lnTo>
                  <a:pt x="430177" y="938912"/>
                </a:lnTo>
                <a:close/>
              </a:path>
            </a:pathLst>
          </a:custGeom>
          <a:solidFill>
            <a:srgbClr val="3E3E3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20"/>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76"/>
          <p:cNvSpPr txBox="1"/>
          <p:nvPr>
            <p:ph type="title"/>
          </p:nvPr>
        </p:nvSpPr>
        <p:spPr>
          <a:xfrm>
            <a:off x="78526" y="715444"/>
            <a:ext cx="6233652" cy="834163"/>
          </a:xfrm>
          <a:prstGeom prst="rect">
            <a:avLst/>
          </a:prstGeom>
          <a:noFill/>
          <a:ln>
            <a:noFill/>
          </a:ln>
        </p:spPr>
        <p:txBody>
          <a:bodyPr anchorCtr="0" anchor="t" bIns="0" lIns="0" spcFirstLastPara="1" rIns="0" wrap="square" tIns="310475">
            <a:spAutoFit/>
          </a:bodyPr>
          <a:lstStyle/>
          <a:p>
            <a:pPr indent="0" lvl="0" marL="61594" rtl="0" algn="l">
              <a:lnSpc>
                <a:spcPct val="100000"/>
              </a:lnSpc>
              <a:spcBef>
                <a:spcPts val="100"/>
              </a:spcBef>
              <a:spcAft>
                <a:spcPts val="0"/>
              </a:spcAft>
              <a:buSzPts val="1400"/>
              <a:buNone/>
            </a:pPr>
            <a:r>
              <a:rPr lang="fr"/>
              <a:t>CONCLUSION</a:t>
            </a:r>
            <a:endParaRPr/>
          </a:p>
        </p:txBody>
      </p:sp>
      <p:pic>
        <p:nvPicPr>
          <p:cNvPr id="243" name="Google Shape;243;p76"/>
          <p:cNvPicPr preferRelativeResize="0"/>
          <p:nvPr/>
        </p:nvPicPr>
        <p:blipFill rotWithShape="1">
          <a:blip r:embed="rId3">
            <a:alphaModFix/>
          </a:blip>
          <a:srcRect b="0" l="0" r="0" t="0"/>
          <a:stretch/>
        </p:blipFill>
        <p:spPr>
          <a:xfrm>
            <a:off x="78526" y="6457249"/>
            <a:ext cx="1038384" cy="290971"/>
          </a:xfrm>
          <a:prstGeom prst="rect">
            <a:avLst/>
          </a:prstGeom>
          <a:noFill/>
          <a:ln>
            <a:noFill/>
          </a:ln>
        </p:spPr>
      </p:pic>
      <p:pic>
        <p:nvPicPr>
          <p:cNvPr id="244" name="Google Shape;244;p76"/>
          <p:cNvPicPr preferRelativeResize="0"/>
          <p:nvPr/>
        </p:nvPicPr>
        <p:blipFill rotWithShape="1">
          <a:blip r:embed="rId3">
            <a:alphaModFix/>
          </a:blip>
          <a:srcRect b="0" l="0" r="0" t="0"/>
          <a:stretch/>
        </p:blipFill>
        <p:spPr>
          <a:xfrm>
            <a:off x="9577699" y="1"/>
            <a:ext cx="2553284" cy="715443"/>
          </a:xfrm>
          <a:prstGeom prst="rect">
            <a:avLst/>
          </a:prstGeom>
          <a:noFill/>
          <a:ln>
            <a:noFill/>
          </a:ln>
        </p:spPr>
      </p:pic>
      <p:sp>
        <p:nvSpPr>
          <p:cNvPr id="245" name="Google Shape;245;p76"/>
          <p:cNvSpPr txBox="1"/>
          <p:nvPr>
            <p:ph idx="12" type="sldNum"/>
          </p:nvPr>
        </p:nvSpPr>
        <p:spPr>
          <a:xfrm>
            <a:off x="11833333" y="6415194"/>
            <a:ext cx="273050" cy="210184"/>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1300"/>
              <a:buNone/>
            </a:pPr>
            <a:fld id="{00000000-1234-1234-1234-123412341234}" type="slidenum">
              <a:rPr lang="fr"/>
              <a:t>‹#›</a:t>
            </a:fld>
            <a:endParaRPr/>
          </a:p>
        </p:txBody>
      </p:sp>
      <p:sp>
        <p:nvSpPr>
          <p:cNvPr id="246" name="Google Shape;246;p76"/>
          <p:cNvSpPr txBox="1"/>
          <p:nvPr/>
        </p:nvSpPr>
        <p:spPr>
          <a:xfrm>
            <a:off x="938847" y="2905780"/>
            <a:ext cx="10314305"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fr" sz="1400" u="none" cap="none" strike="noStrike">
                <a:solidFill>
                  <a:srgbClr val="000000"/>
                </a:solidFill>
                <a:latin typeface="Arial"/>
                <a:ea typeface="Arial"/>
                <a:cs typeface="Arial"/>
                <a:sym typeface="Arial"/>
              </a:rPr>
              <a:t>Dans l’ensemble, ces points clés permettront d'optimiser la gestion des opérations pour les Responsable de Villes, d'assurer un meilleur suivi des performances et d'améliorer la collaboration au sein des équipes.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0" name="Shape 250"/>
        <p:cNvGrpSpPr/>
        <p:nvPr/>
      </p:nvGrpSpPr>
      <p:grpSpPr>
        <a:xfrm>
          <a:off x="0" y="0"/>
          <a:ext cx="0" cy="0"/>
          <a:chOff x="0" y="0"/>
          <a:chExt cx="0" cy="0"/>
        </a:xfrm>
      </p:grpSpPr>
      <p:pic>
        <p:nvPicPr>
          <p:cNvPr id="251" name="Google Shape;251;p61"/>
          <p:cNvPicPr preferRelativeResize="0"/>
          <p:nvPr/>
        </p:nvPicPr>
        <p:blipFill rotWithShape="1">
          <a:blip r:embed="rId3">
            <a:alphaModFix/>
          </a:blip>
          <a:srcRect b="0" l="0" r="0" t="0"/>
          <a:stretch/>
        </p:blipFill>
        <p:spPr>
          <a:xfrm>
            <a:off x="0" y="1440104"/>
            <a:ext cx="12191999" cy="5341683"/>
          </a:xfrm>
          <a:prstGeom prst="rect">
            <a:avLst/>
          </a:prstGeom>
          <a:noFill/>
          <a:ln>
            <a:noFill/>
          </a:ln>
        </p:spPr>
      </p:pic>
      <p:sp>
        <p:nvSpPr>
          <p:cNvPr id="252" name="Google Shape;252;p61"/>
          <p:cNvSpPr txBox="1"/>
          <p:nvPr>
            <p:ph type="ctrTitle"/>
          </p:nvPr>
        </p:nvSpPr>
        <p:spPr>
          <a:xfrm>
            <a:off x="4530407" y="2905760"/>
            <a:ext cx="3131184" cy="10464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b="0" lang="fr" sz="6700">
                <a:solidFill>
                  <a:srgbClr val="980000"/>
                </a:solidFill>
                <a:latin typeface="Tahoma"/>
                <a:ea typeface="Tahoma"/>
                <a:cs typeface="Tahoma"/>
                <a:sym typeface="Tahoma"/>
              </a:rPr>
              <a:t>MERCI !</a:t>
            </a:r>
            <a:endParaRPr sz="6700">
              <a:latin typeface="Tahoma"/>
              <a:ea typeface="Tahoma"/>
              <a:cs typeface="Tahoma"/>
              <a:sym typeface="Tahoma"/>
            </a:endParaRPr>
          </a:p>
        </p:txBody>
      </p:sp>
      <p:pic>
        <p:nvPicPr>
          <p:cNvPr id="253" name="Google Shape;253;p61"/>
          <p:cNvPicPr preferRelativeResize="0"/>
          <p:nvPr/>
        </p:nvPicPr>
        <p:blipFill rotWithShape="1">
          <a:blip r:embed="rId4">
            <a:alphaModFix/>
          </a:blip>
          <a:srcRect b="0" l="0" r="0" t="0"/>
          <a:stretch/>
        </p:blipFill>
        <p:spPr>
          <a:xfrm>
            <a:off x="0" y="6353570"/>
            <a:ext cx="1571073" cy="444049"/>
          </a:xfrm>
          <a:prstGeom prst="rect">
            <a:avLst/>
          </a:prstGeom>
          <a:noFill/>
          <a:ln>
            <a:noFill/>
          </a:ln>
        </p:spPr>
      </p:pic>
      <p:sp>
        <p:nvSpPr>
          <p:cNvPr id="254" name="Google Shape;254;p61"/>
          <p:cNvSpPr txBox="1"/>
          <p:nvPr/>
        </p:nvSpPr>
        <p:spPr>
          <a:xfrm>
            <a:off x="11858733" y="6399555"/>
            <a:ext cx="209550"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fr" sz="1300" u="none" cap="none" strike="noStrike">
                <a:solidFill>
                  <a:srgbClr val="262626"/>
                </a:solidFill>
                <a:latin typeface="Arial"/>
                <a:ea typeface="Arial"/>
                <a:cs typeface="Arial"/>
                <a:sym typeface="Arial"/>
              </a:rPr>
              <a:t>61</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258" name="Shape 258"/>
        <p:cNvGrpSpPr/>
        <p:nvPr/>
      </p:nvGrpSpPr>
      <p:grpSpPr>
        <a:xfrm>
          <a:off x="0" y="0"/>
          <a:ext cx="0" cy="0"/>
          <a:chOff x="0" y="0"/>
          <a:chExt cx="0" cy="0"/>
        </a:xfrm>
      </p:grpSpPr>
      <p:sp>
        <p:nvSpPr>
          <p:cNvPr id="259" name="Google Shape;259;p49"/>
          <p:cNvSpPr txBox="1"/>
          <p:nvPr>
            <p:ph type="title"/>
          </p:nvPr>
        </p:nvSpPr>
        <p:spPr>
          <a:xfrm>
            <a:off x="691235" y="893981"/>
            <a:ext cx="3443604" cy="902335"/>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SzPts val="1400"/>
              <a:buNone/>
            </a:pPr>
            <a:r>
              <a:rPr b="0" lang="fr" sz="3000">
                <a:solidFill>
                  <a:srgbClr val="000000"/>
                </a:solidFill>
                <a:latin typeface="Arial"/>
                <a:ea typeface="Arial"/>
                <a:cs typeface="Arial"/>
                <a:sym typeface="Arial"/>
              </a:rPr>
              <a:t>PHOTO ENSEIGNE</a:t>
            </a:r>
            <a:endParaRPr sz="3000">
              <a:latin typeface="Arial"/>
              <a:ea typeface="Arial"/>
              <a:cs typeface="Arial"/>
              <a:sym typeface="Arial"/>
            </a:endParaRPr>
          </a:p>
          <a:p>
            <a:pPr indent="0" lvl="0" marL="2540" rtl="0" algn="ctr">
              <a:lnSpc>
                <a:spcPct val="100000"/>
              </a:lnSpc>
              <a:spcBef>
                <a:spcPts val="0"/>
              </a:spcBef>
              <a:spcAft>
                <a:spcPts val="0"/>
              </a:spcAft>
              <a:buSzPts val="1400"/>
              <a:buNone/>
            </a:pPr>
            <a:r>
              <a:rPr b="0" lang="fr" sz="2750">
                <a:solidFill>
                  <a:srgbClr val="757070"/>
                </a:solidFill>
                <a:latin typeface="Arial"/>
                <a:ea typeface="Arial"/>
                <a:cs typeface="Arial"/>
                <a:sym typeface="Arial"/>
              </a:rPr>
              <a:t>ACTIVITE</a:t>
            </a:r>
            <a:endParaRPr sz="2750">
              <a:latin typeface="Arial"/>
              <a:ea typeface="Arial"/>
              <a:cs typeface="Arial"/>
              <a:sym typeface="Arial"/>
            </a:endParaRPr>
          </a:p>
        </p:txBody>
      </p:sp>
      <p:pic>
        <p:nvPicPr>
          <p:cNvPr id="260" name="Google Shape;260;p49"/>
          <p:cNvPicPr preferRelativeResize="0"/>
          <p:nvPr/>
        </p:nvPicPr>
        <p:blipFill rotWithShape="1">
          <a:blip r:embed="rId3">
            <a:alphaModFix/>
          </a:blip>
          <a:srcRect b="0" l="0" r="0" t="0"/>
          <a:stretch/>
        </p:blipFill>
        <p:spPr>
          <a:xfrm>
            <a:off x="930767" y="1439361"/>
            <a:ext cx="2969157" cy="2919232"/>
          </a:xfrm>
          <a:prstGeom prst="rect">
            <a:avLst/>
          </a:prstGeom>
          <a:noFill/>
          <a:ln>
            <a:noFill/>
          </a:ln>
        </p:spPr>
      </p:pic>
      <p:sp>
        <p:nvSpPr>
          <p:cNvPr id="261" name="Google Shape;261;p49"/>
          <p:cNvSpPr txBox="1"/>
          <p:nvPr/>
        </p:nvSpPr>
        <p:spPr>
          <a:xfrm>
            <a:off x="1758704" y="3910883"/>
            <a:ext cx="1245235" cy="1879600"/>
          </a:xfrm>
          <a:prstGeom prst="rect">
            <a:avLst/>
          </a:prstGeom>
          <a:noFill/>
          <a:ln>
            <a:noFill/>
          </a:ln>
        </p:spPr>
        <p:txBody>
          <a:bodyPr anchorCtr="0" anchor="t" bIns="0" lIns="0" spcFirstLastPara="1" rIns="0" wrap="square" tIns="78725">
            <a:spAutoFit/>
          </a:bodyPr>
          <a:lstStyle/>
          <a:p>
            <a:pPr indent="-189230" lvl="0" marL="201930" marR="0" rtl="0" algn="l">
              <a:lnSpc>
                <a:spcPct val="100000"/>
              </a:lnSpc>
              <a:spcBef>
                <a:spcPts val="0"/>
              </a:spcBef>
              <a:spcAft>
                <a:spcPts val="0"/>
              </a:spcAft>
              <a:buClr>
                <a:srgbClr val="000000"/>
              </a:buClr>
              <a:buSzPts val="2000"/>
              <a:buFont typeface="Arial"/>
              <a:buChar char="•"/>
            </a:pPr>
            <a:r>
              <a:rPr b="0" i="0" lang="fr" sz="2000" u="none" cap="none" strike="noStrike">
                <a:solidFill>
                  <a:srgbClr val="000000"/>
                </a:solidFill>
                <a:latin typeface="Calibri"/>
                <a:ea typeface="Calibri"/>
                <a:cs typeface="Calibri"/>
                <a:sym typeface="Calibri"/>
              </a:rPr>
              <a:t>Longitude</a:t>
            </a:r>
            <a:endParaRPr b="0" i="0" sz="2000" u="none" cap="none" strike="noStrike">
              <a:solidFill>
                <a:srgbClr val="000000"/>
              </a:solidFill>
              <a:latin typeface="Calibri"/>
              <a:ea typeface="Calibri"/>
              <a:cs typeface="Calibri"/>
              <a:sym typeface="Calibri"/>
            </a:endParaRPr>
          </a:p>
          <a:p>
            <a:pPr indent="-189230" lvl="0" marL="201930" marR="0" rtl="0" algn="l">
              <a:lnSpc>
                <a:spcPct val="100000"/>
              </a:lnSpc>
              <a:spcBef>
                <a:spcPts val="520"/>
              </a:spcBef>
              <a:spcAft>
                <a:spcPts val="0"/>
              </a:spcAft>
              <a:buClr>
                <a:srgbClr val="000000"/>
              </a:buClr>
              <a:buSzPts val="2000"/>
              <a:buFont typeface="Arial"/>
              <a:buChar char="•"/>
            </a:pPr>
            <a:r>
              <a:rPr b="0" i="0" lang="fr" sz="2000" u="none" cap="none" strike="noStrike">
                <a:solidFill>
                  <a:srgbClr val="000000"/>
                </a:solidFill>
                <a:latin typeface="Calibri"/>
                <a:ea typeface="Calibri"/>
                <a:cs typeface="Calibri"/>
                <a:sym typeface="Calibri"/>
              </a:rPr>
              <a:t>Latitude</a:t>
            </a:r>
            <a:endParaRPr b="0" i="0" sz="2000" u="none" cap="none" strike="noStrike">
              <a:solidFill>
                <a:srgbClr val="000000"/>
              </a:solidFill>
              <a:latin typeface="Calibri"/>
              <a:ea typeface="Calibri"/>
              <a:cs typeface="Calibri"/>
              <a:sym typeface="Calibri"/>
            </a:endParaRPr>
          </a:p>
          <a:p>
            <a:pPr indent="-189230" lvl="0" marL="201930" marR="0" rtl="0" algn="l">
              <a:lnSpc>
                <a:spcPct val="100000"/>
              </a:lnSpc>
              <a:spcBef>
                <a:spcPts val="520"/>
              </a:spcBef>
              <a:spcAft>
                <a:spcPts val="0"/>
              </a:spcAft>
              <a:buClr>
                <a:srgbClr val="000000"/>
              </a:buClr>
              <a:buSzPts val="2000"/>
              <a:buFont typeface="Arial"/>
              <a:buChar char="•"/>
            </a:pPr>
            <a:r>
              <a:rPr b="0" i="0" lang="fr" sz="2000" u="none" cap="none" strike="noStrike">
                <a:solidFill>
                  <a:srgbClr val="000000"/>
                </a:solidFill>
                <a:latin typeface="Calibri"/>
                <a:ea typeface="Calibri"/>
                <a:cs typeface="Calibri"/>
                <a:sym typeface="Calibri"/>
              </a:rPr>
              <a:t>POI</a:t>
            </a:r>
            <a:endParaRPr b="0" i="0" sz="2000" u="none" cap="none" strike="noStrike">
              <a:solidFill>
                <a:srgbClr val="000000"/>
              </a:solidFill>
              <a:latin typeface="Calibri"/>
              <a:ea typeface="Calibri"/>
              <a:cs typeface="Calibri"/>
              <a:sym typeface="Calibri"/>
            </a:endParaRPr>
          </a:p>
          <a:p>
            <a:pPr indent="-189230" lvl="0" marL="201930" marR="0" rtl="0" algn="l">
              <a:lnSpc>
                <a:spcPct val="100000"/>
              </a:lnSpc>
              <a:spcBef>
                <a:spcPts val="520"/>
              </a:spcBef>
              <a:spcAft>
                <a:spcPts val="0"/>
              </a:spcAft>
              <a:buClr>
                <a:srgbClr val="000000"/>
              </a:buClr>
              <a:buSzPts val="2000"/>
              <a:buFont typeface="Arial"/>
              <a:buChar char="•"/>
            </a:pPr>
            <a:r>
              <a:rPr b="0" i="0" lang="fr" sz="2000" u="none" cap="none" strike="noStrike">
                <a:solidFill>
                  <a:srgbClr val="000000"/>
                </a:solidFill>
                <a:latin typeface="Calibri"/>
                <a:ea typeface="Calibri"/>
                <a:cs typeface="Calibri"/>
                <a:sym typeface="Calibri"/>
              </a:rPr>
              <a:t>Précision</a:t>
            </a:r>
            <a:endParaRPr b="0" i="0" sz="2000" u="none" cap="none" strike="noStrike">
              <a:solidFill>
                <a:srgbClr val="000000"/>
              </a:solidFill>
              <a:latin typeface="Calibri"/>
              <a:ea typeface="Calibri"/>
              <a:cs typeface="Calibri"/>
              <a:sym typeface="Calibri"/>
            </a:endParaRPr>
          </a:p>
          <a:p>
            <a:pPr indent="-189230" lvl="0" marL="201930" marR="0" rtl="0" algn="l">
              <a:lnSpc>
                <a:spcPct val="100000"/>
              </a:lnSpc>
              <a:spcBef>
                <a:spcPts val="520"/>
              </a:spcBef>
              <a:spcAft>
                <a:spcPts val="0"/>
              </a:spcAft>
              <a:buClr>
                <a:srgbClr val="000000"/>
              </a:buClr>
              <a:buSzPts val="2000"/>
              <a:buFont typeface="Arial"/>
              <a:buChar char="•"/>
            </a:pPr>
            <a:r>
              <a:rPr b="0" i="0" lang="fr" sz="2000" u="none" cap="none" strike="noStrike">
                <a:solidFill>
                  <a:srgbClr val="000000"/>
                </a:solidFill>
                <a:latin typeface="Calibri"/>
                <a:ea typeface="Calibri"/>
                <a:cs typeface="Calibri"/>
                <a:sym typeface="Calibri"/>
              </a:rPr>
              <a:t>Image</a:t>
            </a:r>
            <a:endParaRPr b="0" i="0" sz="2000" u="none" cap="none" strike="noStrike">
              <a:solidFill>
                <a:srgbClr val="000000"/>
              </a:solidFill>
              <a:latin typeface="Calibri"/>
              <a:ea typeface="Calibri"/>
              <a:cs typeface="Calibri"/>
              <a:sym typeface="Calibri"/>
            </a:endParaRPr>
          </a:p>
        </p:txBody>
      </p:sp>
      <p:pic>
        <p:nvPicPr>
          <p:cNvPr id="262" name="Google Shape;262;p49"/>
          <p:cNvPicPr preferRelativeResize="0"/>
          <p:nvPr/>
        </p:nvPicPr>
        <p:blipFill rotWithShape="1">
          <a:blip r:embed="rId4">
            <a:alphaModFix/>
          </a:blip>
          <a:srcRect b="0" l="0" r="0" t="0"/>
          <a:stretch/>
        </p:blipFill>
        <p:spPr>
          <a:xfrm>
            <a:off x="4616727" y="1381125"/>
            <a:ext cx="6858000" cy="4095749"/>
          </a:xfrm>
          <a:prstGeom prst="rect">
            <a:avLst/>
          </a:prstGeom>
          <a:noFill/>
          <a:ln>
            <a:noFill/>
          </a:ln>
        </p:spPr>
      </p:pic>
      <p:pic>
        <p:nvPicPr>
          <p:cNvPr id="263" name="Google Shape;263;p49"/>
          <p:cNvPicPr preferRelativeResize="0"/>
          <p:nvPr/>
        </p:nvPicPr>
        <p:blipFill rotWithShape="1">
          <a:blip r:embed="rId5">
            <a:alphaModFix/>
          </a:blip>
          <a:srcRect b="0" l="0" r="0" t="0"/>
          <a:stretch/>
        </p:blipFill>
        <p:spPr>
          <a:xfrm>
            <a:off x="78526" y="6457249"/>
            <a:ext cx="1038384" cy="290971"/>
          </a:xfrm>
          <a:prstGeom prst="rect">
            <a:avLst/>
          </a:prstGeom>
          <a:noFill/>
          <a:ln>
            <a:noFill/>
          </a:ln>
        </p:spPr>
      </p:pic>
      <p:pic>
        <p:nvPicPr>
          <p:cNvPr id="264" name="Google Shape;264;p49"/>
          <p:cNvPicPr preferRelativeResize="0"/>
          <p:nvPr/>
        </p:nvPicPr>
        <p:blipFill rotWithShape="1">
          <a:blip r:embed="rId5">
            <a:alphaModFix/>
          </a:blip>
          <a:srcRect b="0" l="0" r="0" t="0"/>
          <a:stretch/>
        </p:blipFill>
        <p:spPr>
          <a:xfrm>
            <a:off x="9577699" y="76200"/>
            <a:ext cx="2553283" cy="71544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2024-11-26T09:20:30Z</dcterms:created>
  <dc:creator>MAFA HOLDING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